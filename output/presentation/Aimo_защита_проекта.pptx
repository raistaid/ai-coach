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195d5b55d4f0c" /><Relationship Type="http://schemas.openxmlformats.org/officeDocument/2006/relationships/extended-properties" Target="/docProps/app.xml" Id="R7ecfaca64ebb472c" /><Relationship Type="http://schemas.openxmlformats.org/officeDocument/2006/relationships/officeDocument" Target="/ppt/presentation.xml" Id="Ra9768c897a68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18db41e10467a"/>
  </p:sldMasterIdLst>
  <p:notesMasterIdLst>
    <p:notesMasterId xmlns:r="http://schemas.openxmlformats.org/officeDocument/2006/relationships" r:id="Re713ea74216440b0"/>
  </p:notesMasterIdLst>
  <p:sldIdLst>
    <p:sldId xmlns:r="http://schemas.openxmlformats.org/officeDocument/2006/relationships" id="256" r:id="Rae84999e87054456"/>
    <p:sldId xmlns:r="http://schemas.openxmlformats.org/officeDocument/2006/relationships" id="257" r:id="Re518b6f3a71643f6"/>
    <p:sldId xmlns:r="http://schemas.openxmlformats.org/officeDocument/2006/relationships" id="258" r:id="R17411205c2aa4dcf"/>
    <p:sldId xmlns:r="http://schemas.openxmlformats.org/officeDocument/2006/relationships" id="259" r:id="R697fb11400cf49b3"/>
    <p:sldId xmlns:r="http://schemas.openxmlformats.org/officeDocument/2006/relationships" id="260" r:id="R88f6d5ce31bc498b"/>
    <p:sldId xmlns:r="http://schemas.openxmlformats.org/officeDocument/2006/relationships" id="261" r:id="Rc0c4381d0f7c4a49"/>
    <p:sldId xmlns:r="http://schemas.openxmlformats.org/officeDocument/2006/relationships" id="262" r:id="R3f1c240e1902446d"/>
    <p:sldId xmlns:r="http://schemas.openxmlformats.org/officeDocument/2006/relationships" id="263" r:id="R59b144fce7064968"/>
    <p:sldId xmlns:r="http://schemas.openxmlformats.org/officeDocument/2006/relationships" id="264" r:id="R16785ee9caf44db4"/>
    <p:sldId xmlns:r="http://schemas.openxmlformats.org/officeDocument/2006/relationships" id="265" r:id="R8a6b11fd7b534c63"/>
    <p:sldId xmlns:r="http://schemas.openxmlformats.org/officeDocument/2006/relationships" id="266" r:id="R07d8f1465f3543d0"/>
    <p:sldId xmlns:r="http://schemas.openxmlformats.org/officeDocument/2006/relationships" id="267" r:id="Re128239c9eae4248"/>
    <p:sldId xmlns:r="http://schemas.openxmlformats.org/officeDocument/2006/relationships" id="268" r:id="Rcd4d3da5a65946af"/>
    <p:sldId xmlns:r="http://schemas.openxmlformats.org/officeDocument/2006/relationships" id="269" r:id="R28b66a4d67b0496c"/>
    <p:sldId xmlns:r="http://schemas.openxmlformats.org/officeDocument/2006/relationships" id="270" r:id="R9dbf109f0f044a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e446e56ecb43e0" /><Relationship Type="http://schemas.openxmlformats.org/officeDocument/2006/relationships/slideMaster" Target="/ppt/slideMasters/slideMaster1.xml" Id="R2d118db41e10467a" /><Relationship Type="http://schemas.openxmlformats.org/officeDocument/2006/relationships/notesMaster" Target="/ppt/notesMasters/notesMaster1.xml" Id="Re713ea74216440b0" /><Relationship Type="http://schemas.openxmlformats.org/officeDocument/2006/relationships/presProps" Target="/ppt/presProps.xml" Id="Rd296ed2079ed4110" /><Relationship Type="http://schemas.openxmlformats.org/officeDocument/2006/relationships/tableStyles" Target="/ppt/tableStyles.xml" Id="Ra2fdfc45dabd429e" /><Relationship Type="http://schemas.openxmlformats.org/officeDocument/2006/relationships/slide" Target="/ppt/slides/slide1.xml" Id="Rae84999e87054456" /><Relationship Type="http://schemas.openxmlformats.org/officeDocument/2006/relationships/slide" Target="/ppt/slides/slide2.xml" Id="Re518b6f3a71643f6" /><Relationship Type="http://schemas.openxmlformats.org/officeDocument/2006/relationships/slide" Target="/ppt/slides/slide3.xml" Id="R17411205c2aa4dcf" /><Relationship Type="http://schemas.openxmlformats.org/officeDocument/2006/relationships/slide" Target="/ppt/slides/slide4.xml" Id="R697fb11400cf49b3" /><Relationship Type="http://schemas.openxmlformats.org/officeDocument/2006/relationships/slide" Target="/ppt/slides/slide5.xml" Id="R88f6d5ce31bc498b" /><Relationship Type="http://schemas.openxmlformats.org/officeDocument/2006/relationships/slide" Target="/ppt/slides/slide6.xml" Id="Rc0c4381d0f7c4a49" /><Relationship Type="http://schemas.openxmlformats.org/officeDocument/2006/relationships/slide" Target="/ppt/slides/slide7.xml" Id="R3f1c240e1902446d" /><Relationship Type="http://schemas.openxmlformats.org/officeDocument/2006/relationships/slide" Target="/ppt/slides/slide8.xml" Id="R59b144fce7064968" /><Relationship Type="http://schemas.openxmlformats.org/officeDocument/2006/relationships/slide" Target="/ppt/slides/slide9.xml" Id="R16785ee9caf44db4" /><Relationship Type="http://schemas.openxmlformats.org/officeDocument/2006/relationships/slide" Target="/ppt/slides/slide10.xml" Id="R8a6b11fd7b534c63" /><Relationship Type="http://schemas.openxmlformats.org/officeDocument/2006/relationships/slide" Target="/ppt/slides/slide11.xml" Id="R07d8f1465f3543d0" /><Relationship Type="http://schemas.openxmlformats.org/officeDocument/2006/relationships/slide" Target="/ppt/slides/slide12.xml" Id="Re128239c9eae4248" /><Relationship Type="http://schemas.openxmlformats.org/officeDocument/2006/relationships/slide" Target="/ppt/slides/slide13.xml" Id="Rcd4d3da5a65946af" /><Relationship Type="http://schemas.openxmlformats.org/officeDocument/2006/relationships/slide" Target="/ppt/slides/slide14.xml" Id="R28b66a4d67b0496c" /><Relationship Type="http://schemas.openxmlformats.org/officeDocument/2006/relationships/slide" Target="/ppt/slides/slide15.xml" Id="R9dbf109f0f044a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4ab8327963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9bc87655d4ed4" /><Relationship Type="http://schemas.openxmlformats.org/officeDocument/2006/relationships/notesMaster" Target="/ppt/notesMasters/notesMaster1.xml" Id="R318b9704f4924c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38448ef7d4060" /><Relationship Type="http://schemas.openxmlformats.org/officeDocument/2006/relationships/notesMaster" Target="/ppt/notesMasters/notesMaster1.xml" Id="R4ad27212cebb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cb18b2f834add" /><Relationship Type="http://schemas.openxmlformats.org/officeDocument/2006/relationships/notesMaster" Target="/ppt/notesMasters/notesMaster1.xml" Id="R09fda6e3b4264f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be5b029584253" /><Relationship Type="http://schemas.openxmlformats.org/officeDocument/2006/relationships/notesMaster" Target="/ppt/notesMasters/notesMaster1.xml" Id="R43547dec55bb4c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8428957c3e48be" /><Relationship Type="http://schemas.openxmlformats.org/officeDocument/2006/relationships/notesMaster" Target="/ppt/notesMasters/notesMaster1.xml" Id="R7ab46b37b4474b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4d704b75ed4904" /><Relationship Type="http://schemas.openxmlformats.org/officeDocument/2006/relationships/notesMaster" Target="/ppt/notesMasters/notesMaster1.xml" Id="R26ddeecdb8da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53524d04c549fe" /><Relationship Type="http://schemas.openxmlformats.org/officeDocument/2006/relationships/notesMaster" Target="/ppt/notesMasters/notesMaster1.xml" Id="Re141acf2ebd94d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686d71ded54a80" /><Relationship Type="http://schemas.openxmlformats.org/officeDocument/2006/relationships/notesMaster" Target="/ppt/notesMasters/notesMaster1.xml" Id="Rf22b79a1ea7741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b281e394314b05" /><Relationship Type="http://schemas.openxmlformats.org/officeDocument/2006/relationships/notesMaster" Target="/ppt/notesMasters/notesMaster1.xml" Id="R0a2ffc77476145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e43c9ff724ded" /><Relationship Type="http://schemas.openxmlformats.org/officeDocument/2006/relationships/notesMaster" Target="/ppt/notesMasters/notesMaster1.xml" Id="R3fbffce018904a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b1c87508ea46fc" /><Relationship Type="http://schemas.openxmlformats.org/officeDocument/2006/relationships/notesMaster" Target="/ppt/notesMasters/notesMaster1.xml" Id="R600263894f3943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a85dc88ebe4fc4" /><Relationship Type="http://schemas.openxmlformats.org/officeDocument/2006/relationships/notesMaster" Target="/ppt/notesMasters/notesMaster1.xml" Id="R6d8a43131be341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c6fa4a0453498a" /><Relationship Type="http://schemas.openxmlformats.org/officeDocument/2006/relationships/notesMaster" Target="/ppt/notesMasters/notesMaster1.xml" Id="Rac315da5c55f43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e67ad1bbe8440a" /><Relationship Type="http://schemas.openxmlformats.org/officeDocument/2006/relationships/notesMaster" Target="/ppt/notesMasters/notesMaster1.xml" Id="Rf3f2e781e11c49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38060b30d34eb7" /><Relationship Type="http://schemas.openxmlformats.org/officeDocument/2006/relationships/notesMaster" Target="/ppt/notesMasters/notesMaster1.xml" Id="R8354898481ac4c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Aimo помогает новичку заниматься самостоятельно. Главный сценарий: цель в чате, маршрут из навыков, тренировка с камерой и итог. Видео анализируется на устройстве. Далее покажем основной сценарий и границы прототипа.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1; README.md; docs/AI_STRATEGY.md.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Целевая аудитория первого сценария: начинающий пользователь, который учится чеканить мяч. На хакатоне мы сделали инструмент обратной связи. Мы пока не проводили пользовательский эксперимент и не заявляем снижение травматизма или доказанный рост навыка.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2; docs/PROMPT.md; docs/TEST_PLAN.md.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предлагаем сочетание управляемого урока, интерфейса эфира и проверяемой речи. Это описание нашей идеи, а не утверждение об отсутствии аналогов на рынке. Модель позы сама не решает, что навык освоен: условия задаёт модуль навыка. Например, стойка требует удержания, а повтор требует целого цикла движения.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skills/football.js; skills/squats.js; coach-motion.js; coach-engine.js; app/live.js; coach-llm.js.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реальные снимки приложения из Chrome с локальным тестовым профилем. В каталоге восемь навыков: футбол, силовые упражнения и кардио. В настройках четыре самостоятельных голоса Piper и системные голоса, громкость и скорость. По умолчанию выбран Дмитрий со скоростью 0,7. Для локального голоса нужно явное скачивание.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docs/screenshots/{chat,skills,profile}.png; app/voice-models.js; app/store.js; 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сцене начинаем с работающего приложения. Выбираем приседания, ставим телефон так, чтобы тело было видно целиком, и показываем повтор с замечанием или изменением счётчика. Если камера недоступна, используем заранее подготовленное видео через «Открыть видео». «Демо без камеры» честно называем симуляцией: оно не доказывает точность распознавания человека и не попадает в историю. Голосовой вопрос показываем только при разрешённом микрофоне и доступном распознавании браузера.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app/main.js; app/live.js; skills/squats.js;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Правила работают без языковой модели. При сбое LLM тренер использует фразу из банка. В эфире LLM видит числовую сводку, а в чате подбора также текст цели и каталог навыков. Ни один из этих запросов не содержит видеокадры. Офлайн доступны заранее загруженные компоненты: первый запуск и загрузка весов требуют сети. Piper работает локально, но его движок при первом запуске загружает модули с CDN. Для браузерного распознавания голосового вопроса может понадобиться сеть.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coach-motion.js; coach-policy.js; coach-llm.js; coach-planner.js; app/tts-worker.js; app/speech.js; sw.js.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187 тестов прошли при подготовке этой версии. Они проверяют логику счёта, шум ориентиров, отсутствие человека, ложные касания, смену камеры, голос и данные. Числа 29/13, 35/6 и 15/6 взяты из ранее зафиксированного эксперимента в журнале. Он показывает, что тренер стал реже отвлекать пользователя на одинаковых демо-кадрах. Это не метрика точности модели. Unit-тесты не заменяют проверку реального движения на разных телефонах.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node --test (25.10.2026); docs/AI_STRATEGY.md, раздел «25 октября: проверка движений и тренер без флуда»; skills/index.js.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Работу делим по компетенциям, но не передаём интеграцию агентам без проверки. Общий контракт связывает интерфейс, зрение и LLM. Пример совместного решения: детектор распознаёт предметы для разных навыков, а логика касаний принимает только sports ball и только там, где навык требует мяч.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AGENTS.md; docs/AI_STRATEGY.md; coach-engine.js; app/live.js.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Наран выполняет роль тимлида и full-stack-разработчика: удерживает целостный пользовательский сценарий, интеграцию и выпуск. Максим выполняет роль ML/LLM-инженера: отвечает за логику анализа, локальную модель и качество её ответов. Граница не мешает совместной приёмке: оба участника проверяют приложение и обсуждают решения, влияющие на продукт.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Уточнение команды 25.10.2026; AGENTS.md; docs/AI_STRATEGY.md.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 работает как статическое приложение: HTML, CSS и ES-модули публикуются на GitHub Pages, Service Worker кеширует оболочку, IndexedDB хранит локальные данные и модели. MediaPipe выполняет распознавание позы и предметов. WebLLM 0.2.86 запускает Qwen2.5-1.5B-Instruct-q4f16_1-MLC, а для слабых устройств доступна версия 0.5B. Piper даёт локальные голоса. В разработке агенты Codex и Claude Code помогали писать и проверять код, тесты и документацию. Context7 подключён по протоколу MCP и использовался для проверки актуальных API, а не для работы приложения во время тренировки.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package.json; sw.js; coach-llm.js; app/tts-worker.js; .mcp.json; AGENTS.md; docs/AI_STRATEGY.md.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продукте работают MediaPipe, правила и Qwen. В разработке использовали агентов Claude Code и Codex для кода, тестов, интеграции и документации, а генерацию изображений для иконки. Context7 подключён как MCP-сервер для сверки API. В AGENTS.md зафиксированы владение файлами и контракты. Журнал содержит наблюдение, исправление и способ проверки. Агент развития имеет дорожную карту, но не работает самостоятельно по расписанию.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AGENTS.md; .mcp.json; docs/AI_STRATEGY.md; docs/ICON_PROMPT.txt; .codex/agents/feature_developer.toml.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 сильный результат: полный сценарий работает, правила тестируются, модель не отвечает за измерения. Слабое место: мы расширили каталог быстрее, чем собрали записи реальных пользователей. Много времени ушло на стык браузера, камеры и голоса. Мы также увидели цену параллельной работы: разные версии правил и интерфейса приходится объединять вручную. Дальше нам важнее измерить ошибки счёта на телефонах, чем добавить ещё несколько упражнений. Подробная саморефлексия приложена отдельным текстом.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docs/AI_STRATEGY.md; docs/TEST_PLAN.md; docs/FEATURE_ROADMAP.md; история задач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тестируем основной сценарий чеканки и один простой силовой навык. Для каждого видео вручную отмечаем реальные повторы или касания, затем сравниваем пропуски и ложные срабатывания. Частоту позы измеряем на устройстве: 8 кадров в секунду пока является требованием проекта, а не подтверждённым результатом для всех телефонов. Успех пользовательской проверки: человек самостоятельно начинает занятие, понимает замечание и находит итог. Мы не выдаём запланированные отзывы за собранные.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docs/TEST_PLAN.md; docs/FEATURE_ROADMAP.md;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открыть приложение и пройти один шаг упражнения. Если есть время, отвечаем на вопросы о правилах движения, приватности и использовании ИИ в разработке. Следующий слайд служит справкой по критериям жюри.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GitHub Pages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Веса взяты из предоставленного пользователем изображения критериев: 25+20+20+15+10+10=100%. Этот слайд является картой доказательств, а не самооценкой в баллах.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Изображение критериев, предоставленное пользователем 25.10.2026.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5bb4743cf4c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f364cac0b43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26c31594440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ba94dce4542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96d254ed34e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9733483e2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2DD755-2DA9-4138-8A0B-A508F1D9B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ABC4D6-BFAB-4B83-9AF0-80379B1C8F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68E8FD-3E35-4429-B461-479DB63FF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5352C-3F6B-45BC-B6DC-CB4ADB40A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F86D90-0B38-4417-A177-3AE08A1AD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77646E-0F10-401D-AFF7-6A21F537A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5FD9B0-0C0E-473C-AC7C-796F153DF6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385B6D-E82D-418C-888F-A524F3A82A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564559-8BB7-48E2-AAE0-47600867D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2A37E-5F40-4C23-B2E5-A6414D792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6d8f186bd34100" /><Relationship Type="http://schemas.openxmlformats.org/officeDocument/2006/relationships/slideLayout" Target="/ppt/slideLayouts/slideLayout1.xml" Id="R5c16406178bc4717" /><Relationship Type="http://schemas.openxmlformats.org/officeDocument/2006/relationships/slideLayout" Target="/ppt/slideLayouts/slideLayout2.xml" Id="Re720be68e6c347a8" /><Relationship Type="http://schemas.openxmlformats.org/officeDocument/2006/relationships/slideLayout" Target="/ppt/slideLayouts/slideLayout3.xml" Id="Re1e84aa6b2304461" /><Relationship Type="http://schemas.openxmlformats.org/officeDocument/2006/relationships/slideLayout" Target="/ppt/slideLayouts/slideLayout4.xml" Id="R3bbf0abf941e4dc8" /><Relationship Type="http://schemas.openxmlformats.org/officeDocument/2006/relationships/slideLayout" Target="/ppt/slideLayouts/slideLayout5.xml" Id="R51e7dbd1dafb45d5" /><Relationship Type="http://schemas.openxmlformats.org/officeDocument/2006/relationships/slideLayout" Target="/ppt/slideLayouts/slideLayout6.xml" Id="R1964273c354d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16406178bc4717"/>
    <p:sldLayoutId xmlns:r="http://schemas.openxmlformats.org/officeDocument/2006/relationships" id="2147483650" r:id="Re720be68e6c347a8"/>
    <p:sldLayoutId xmlns:r="http://schemas.openxmlformats.org/officeDocument/2006/relationships" id="2147483651" r:id="Re1e84aa6b2304461"/>
    <p:sldLayoutId xmlns:r="http://schemas.openxmlformats.org/officeDocument/2006/relationships" id="2147483652" r:id="R3bbf0abf941e4dc8"/>
    <p:sldLayoutId xmlns:r="http://schemas.openxmlformats.org/officeDocument/2006/relationships" id="2147483653" r:id="R51e7dbd1dafb45d5"/>
    <p:sldLayoutId xmlns:r="http://schemas.openxmlformats.org/officeDocument/2006/relationships" id="2147483654" r:id="R1964273c354d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4e94e70d64f00" /><Relationship Type="http://schemas.openxmlformats.org/officeDocument/2006/relationships/notesSlide" Target="/ppt/notesSlides/notesSlide1.xml" Id="R18f8b002c146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b2905f9f544d0" /><Relationship Type="http://schemas.openxmlformats.org/officeDocument/2006/relationships/notesSlide" Target="/ppt/notesSlides/notesSlide2.xml" Id="Rdd4de9bc243c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cf4b144854937" /><Relationship Type="http://schemas.openxmlformats.org/officeDocument/2006/relationships/notesSlide" Target="/ppt/notesSlides/notesSlide3.xml" Id="R7af7ffc58ec4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0c46803874828" /><Relationship Type="http://schemas.openxmlformats.org/officeDocument/2006/relationships/image" Target="/ppt/media/image.png" Id="Rad5aa41e50134335" /><Relationship Type="http://schemas.openxmlformats.org/officeDocument/2006/relationships/image" Target="/ppt/media/image2.png" Id="R41df6e027bc74535" /><Relationship Type="http://schemas.openxmlformats.org/officeDocument/2006/relationships/image" Target="/ppt/media/image3.png" Id="R6e2db235dd2b4275" /><Relationship Type="http://schemas.openxmlformats.org/officeDocument/2006/relationships/notesSlide" Target="/ppt/notesSlides/notesSlide4.xml" Id="Reaae72a6fd6141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f8ca429ba442a" /><Relationship Type="http://schemas.openxmlformats.org/officeDocument/2006/relationships/image" Target="/ppt/media/image4.png" Id="Ra18cc65c763d49a3" /><Relationship Type="http://schemas.openxmlformats.org/officeDocument/2006/relationships/notesSlide" Target="/ppt/notesSlides/notesSlide5.xml" Id="R5826f64e016d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08263c91146cb" /><Relationship Type="http://schemas.openxmlformats.org/officeDocument/2006/relationships/notesSlide" Target="/ppt/notesSlides/notesSlide6.xml" Id="R703e9470771548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93edcdb4a43af" /><Relationship Type="http://schemas.openxmlformats.org/officeDocument/2006/relationships/notesSlide" Target="/ppt/notesSlides/notesSlide7.xml" Id="Rb3866f73857649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81c7eb39e4edb" /><Relationship Type="http://schemas.openxmlformats.org/officeDocument/2006/relationships/notesSlide" Target="/ppt/notesSlides/notesSlide8.xml" Id="R6ec7e72a238841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9539f42f943fb" /><Relationship Type="http://schemas.openxmlformats.org/officeDocument/2006/relationships/notesSlide" Target="/ppt/notesSlides/notesSlide9.xml" Id="R8155d8c306e540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82cc0b4e54be2" /><Relationship Type="http://schemas.openxmlformats.org/officeDocument/2006/relationships/notesSlide" Target="/ppt/notesSlides/notesSlide10.xml" Id="R07e3027779b943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ae3f6ba744d1f" /><Relationship Type="http://schemas.openxmlformats.org/officeDocument/2006/relationships/notesSlide" Target="/ppt/notesSlides/notesSlide11.xml" Id="R713af60f9d1744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2a869aa4c49a7" /><Relationship Type="http://schemas.openxmlformats.org/officeDocument/2006/relationships/notesSlide" Target="/ppt/notesSlides/notesSlide12.xml" Id="Redfee1a7ba554c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86011e09d4263" /><Relationship Type="http://schemas.openxmlformats.org/officeDocument/2006/relationships/notesSlide" Target="/ppt/notesSlides/notesSlide13.xml" Id="Rc391831f9cc946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2bd76e9d04b25" /><Relationship Type="http://schemas.openxmlformats.org/officeDocument/2006/relationships/hyperlink" Target="https://nomad-dreamteam.github.io/Aimo/" TargetMode="External" Id="R661ec816c34a4c69" /><Relationship Type="http://schemas.openxmlformats.org/officeDocument/2006/relationships/hyperlink" Target="https://github.com/noMad-dreamteam/Aimo" TargetMode="External" Id="Rb1e8c7579f73470f" /><Relationship Type="http://schemas.openxmlformats.org/officeDocument/2006/relationships/notesSlide" Target="/ppt/notesSlides/notesSlide14.xml" Id="Rc489aeb0c16948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8be0bb8d5473a" /><Relationship Type="http://schemas.openxmlformats.org/officeDocument/2006/relationships/notesSlide" Target="/ppt/notesSlides/notesSlide15.xml" Id="R49843d9fee4044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6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IBEHACK 2026   /   КОМАНДА noMad">
            <a:extLst xmlns:a="http://schemas.openxmlformats.org/drawingml/2006/main">
              <a:ext uri="{FF2B5EF4-FFF2-40B4-BE49-F238E27FC236}">
                <a16:creationId xmlns:a16="http://schemas.microsoft.com/office/drawing/2014/main" id="{CD7E427B-6B08-4D6A-AF17-0ED26713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VIBEHACK 2026   /   КОМАНДА noMad</a:t>
            </a:r>
          </a:p>
        </p:txBody>
      </p:sp>
      <p:sp>
        <p:nvSpPr>
          <p:cNvPr id="2" name="aimo">
            <a:extLst xmlns:a="http://schemas.openxmlformats.org/drawingml/2006/main">
              <a:ext uri="{FF2B5EF4-FFF2-40B4-BE49-F238E27FC236}">
                <a16:creationId xmlns:a16="http://schemas.microsoft.com/office/drawing/2014/main" id="{140A3478-1726-4CC7-9C4A-3886017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aimo</a:t>
            </a:r>
          </a:p>
        </p:txBody>
      </p:sp>
      <p:sp>
        <p:nvSpPr>
          <p:cNvPr id="3" name="Нейро-тренер в прямом эфире">
            <a:extLst xmlns:a="http://schemas.openxmlformats.org/drawingml/2006/main">
              <a:ext uri="{FF2B5EF4-FFF2-40B4-BE49-F238E27FC236}">
                <a16:creationId xmlns:a16="http://schemas.microsoft.com/office/drawing/2014/main" id="{EC5CE7CE-995D-461B-81D6-075E369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Нейро-тренер в прямом эфире</a:t>
            </a:r>
          </a:p>
        </p:txBody>
      </p:sp>
      <p:sp>
        <p:nvSpPr>
          <p:cNvPr id="4" name="Человек ставит телефон, выбирает навык&#10;и получает подск">
            <a:extLst xmlns:a="http://schemas.openxmlformats.org/drawingml/2006/main">
              <a:ext uri="{FF2B5EF4-FFF2-40B4-BE49-F238E27FC236}">
                <a16:creationId xmlns:a16="http://schemas.microsoft.com/office/drawing/2014/main" id="{484DA101-8ADB-4D4F-B385-BE9833E0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Человек ставит телефон, выбирает навык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получает подсказки по ходу движения.</a:t>
            </a:r>
          </a:p>
        </p:txBody>
      </p:sp>
      <p:sp>
        <p:nvSpPr>
          <p:cNvPr id="5" name="Максим и Наран   /   25 октября 2026">
            <a:extLst xmlns:a="http://schemas.openxmlformats.org/drawingml/2006/main">
              <a:ext uri="{FF2B5EF4-FFF2-40B4-BE49-F238E27FC236}">
                <a16:creationId xmlns:a16="http://schemas.microsoft.com/office/drawing/2014/main" id="{764DF534-E8BA-430D-AB70-72D5A143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Максим и Наран   /   25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792849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ОЛЬЗА 20%">
            <a:extLst xmlns:a="http://schemas.openxmlformats.org/drawingml/2006/main">
              <a:ext uri="{FF2B5EF4-FFF2-40B4-BE49-F238E27FC236}">
                <a16:creationId xmlns:a16="http://schemas.microsoft.com/office/drawing/2014/main" id="{92A36051-78A8-4B4E-AA2A-24AB948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ПОЛЬЗА 20%</a:t>
            </a:r>
          </a:p>
        </p:txBody>
      </p:sp>
      <p:sp>
        <p:nvSpPr>
          <p:cNvPr id="2" name="Обратная связь для новичка">
            <a:extLst xmlns:a="http://schemas.openxmlformats.org/drawingml/2006/main">
              <a:ext uri="{FF2B5EF4-FFF2-40B4-BE49-F238E27FC236}">
                <a16:creationId xmlns:a16="http://schemas.microsoft.com/office/drawing/2014/main" id="{F8EBABEE-939B-45FD-A034-30A4DAF8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Обратная связь для новичка</a:t>
            </a:r>
          </a:p>
        </p:txBody>
      </p:sp>
      <p:sp>
        <p:nvSpPr>
          <p:cNvPr id="3" name="Ситуация">
            <a:extLst xmlns:a="http://schemas.openxmlformats.org/drawingml/2006/main">
              <a:ext uri="{FF2B5EF4-FFF2-40B4-BE49-F238E27FC236}">
                <a16:creationId xmlns:a16="http://schemas.microsoft.com/office/drawing/2014/main" id="{4D94D058-BA2D-4D04-AB6A-E60EB908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Ситуация</a:t>
            </a:r>
          </a:p>
        </p:txBody>
      </p:sp>
      <p:sp>
        <p:nvSpPr>
          <p:cNvPr id="4" name="Человек тренируется дома или во дворе. Рядом нет того, ">
            <a:extLst xmlns:a="http://schemas.openxmlformats.org/drawingml/2006/main">
              <a:ext uri="{FF2B5EF4-FFF2-40B4-BE49-F238E27FC236}">
                <a16:creationId xmlns:a16="http://schemas.microsoft.com/office/drawing/2014/main" id="{FB82B406-3D67-4DD5-94B8-322F5850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Человек тренируется дома или во дворе. Рядом нет того, кто подскажет следующий шаг.</a:t>
            </a:r>
          </a:p>
        </p:txBody>
      </p:sp>
      <p:sp>
        <p:nvSpPr>
          <p:cNvPr id="5" name="Трудность">
            <a:extLst xmlns:a="http://schemas.openxmlformats.org/drawingml/2006/main">
              <a:ext uri="{FF2B5EF4-FFF2-40B4-BE49-F238E27FC236}">
                <a16:creationId xmlns:a16="http://schemas.microsoft.com/office/drawing/2014/main" id="{E5019800-F155-41B7-8226-4DD288EB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Трудность</a:t>
            </a:r>
          </a:p>
        </p:txBody>
      </p:sp>
      <p:sp>
        <p:nvSpPr>
          <p:cNvPr id="6" name="По видеоуроку трудно понять, получилось ли движение и ч">
            <a:extLst xmlns:a="http://schemas.openxmlformats.org/drawingml/2006/main">
              <a:ext uri="{FF2B5EF4-FFF2-40B4-BE49-F238E27FC236}">
                <a16:creationId xmlns:a16="http://schemas.microsoft.com/office/drawing/2014/main" id="{9FF3F2FE-8ED4-41E0-8D96-F7C43B25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По видеоуроку трудно понять, получилось ли движение и что именно поправить.</a:t>
            </a:r>
          </a:p>
        </p:txBody>
      </p:sp>
      <p:sp>
        <p:nvSpPr>
          <p:cNvPr id="7" name="Наша помощь">
            <a:extLst xmlns:a="http://schemas.openxmlformats.org/drawingml/2006/main">
              <a:ext uri="{FF2B5EF4-FFF2-40B4-BE49-F238E27FC236}">
                <a16:creationId xmlns:a16="http://schemas.microsoft.com/office/drawing/2014/main" id="{B8C08906-ADBC-4106-81A0-BDF060ED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Наша помощь</a:t>
            </a:r>
          </a:p>
        </p:txBody>
      </p:sp>
      <p:sp>
        <p:nvSpPr>
          <p:cNvPr id="8" name="Короткая подсказка во время попытки и понятный план сле">
            <a:extLst xmlns:a="http://schemas.openxmlformats.org/drawingml/2006/main">
              <a:ext uri="{FF2B5EF4-FFF2-40B4-BE49-F238E27FC236}">
                <a16:creationId xmlns:a16="http://schemas.microsoft.com/office/drawing/2014/main" id="{B0DA40AF-AE0D-4612-A6B1-34320614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Короткая подсказка во время попытки и понятный план следующего действия.</a:t>
            </a:r>
          </a:p>
        </p:txBody>
      </p:sp>
      <p:sp>
        <p:nvSpPr>
          <p:cNvPr id="9" name="Гипотеза: понятная обратная связь поможет новичку чаще ">
            <a:extLst xmlns:a="http://schemas.openxmlformats.org/drawingml/2006/main">
              <a:ext uri="{FF2B5EF4-FFF2-40B4-BE49-F238E27FC236}">
                <a16:creationId xmlns:a16="http://schemas.microsoft.com/office/drawing/2014/main" id="{61C3A9E6-4EFF-4FD6-A8CB-80C39D2B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Гипотеза: понятная обратная связь поможет новичку чаще завершать занятие.</a:t>
            </a:r>
          </a:p>
        </p:txBody>
      </p:sp>
      <p:sp>
        <p:nvSpPr>
          <p:cNvPr id="10" name="Её ещё предстоит проверить с новичками. Эффект обучения">
            <a:extLst xmlns:a="http://schemas.openxmlformats.org/drawingml/2006/main">
              <a:ext uri="{FF2B5EF4-FFF2-40B4-BE49-F238E27FC236}">
                <a16:creationId xmlns:a16="http://schemas.microsoft.com/office/drawing/2014/main" id="{2C28CFBF-5DE8-4E67-BA42-A6F66C4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Её ещё предстоит проверить с новичками. Эффект обучения пока не измерен.</a:t>
            </a:r>
          </a:p>
        </p:txBody>
      </p:sp>
      <p:sp>
        <p:nvSpPr>
          <p:cNvPr id="11" name="Aimo   /   Проблема и ценность   /   2 из 15">
            <a:extLst xmlns:a="http://schemas.openxmlformats.org/drawingml/2006/main">
              <a:ext uri="{FF2B5EF4-FFF2-40B4-BE49-F238E27FC236}">
                <a16:creationId xmlns:a16="http://schemas.microsoft.com/office/drawing/2014/main" id="{32F87955-962C-435C-8910-13F0772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Проблема и ценность   /   2 из 15</a:t>
            </a:r>
          </a:p>
        </p:txBody>
      </p:sp>
    </p:spTree>
    <p:extLst>
      <p:ext uri="{BB962C8B-B14F-4D97-AF65-F5344CB8AC3E}">
        <p14:creationId xmlns:p14="http://schemas.microsoft.com/office/powerpoint/2010/main" val="1418573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РИГИНАЛЬНОСТЬ 25%">
            <a:extLst xmlns:a="http://schemas.openxmlformats.org/drawingml/2006/main">
              <a:ext uri="{FF2B5EF4-FFF2-40B4-BE49-F238E27FC236}">
                <a16:creationId xmlns:a16="http://schemas.microsoft.com/office/drawing/2014/main" id="{26C1CBF2-3AF9-42C0-B904-FC5DE1F8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ОРИГИНАЛЬНОСТЬ 25%</a:t>
            </a:r>
          </a:p>
        </p:txBody>
      </p:sp>
      <p:sp>
        <p:nvSpPr>
          <p:cNvPr id="2" name="Урок меняется по реальному движению">
            <a:extLst xmlns:a="http://schemas.openxmlformats.org/drawingml/2006/main">
              <a:ext uri="{FF2B5EF4-FFF2-40B4-BE49-F238E27FC236}">
                <a16:creationId xmlns:a16="http://schemas.microsoft.com/office/drawing/2014/main" id="{DE6A1119-3BB1-4DFA-B019-D83A412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Урок меняется по реальному движению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19E91A8B-2846-4DE8-A3F6-BBC57D39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Шаги по наблюдениям">
            <a:extLst xmlns:a="http://schemas.openxmlformats.org/drawingml/2006/main">
              <a:ext uri="{FF2B5EF4-FFF2-40B4-BE49-F238E27FC236}">
                <a16:creationId xmlns:a16="http://schemas.microsoft.com/office/drawing/2014/main" id="{4E2F2A0B-A6F1-4598-B861-AEEF01B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Шаги по наблюдениям</a:t>
            </a:r>
          </a:p>
        </p:txBody>
      </p:sp>
      <p:sp>
        <p:nvSpPr>
          <p:cNvPr id="5" name="Стойка, подъёмы, касания. Урок продолжается, когда выпо">
            <a:extLst xmlns:a="http://schemas.openxmlformats.org/drawingml/2006/main">
              <a:ext uri="{FF2B5EF4-FFF2-40B4-BE49-F238E27FC236}">
                <a16:creationId xmlns:a16="http://schemas.microsoft.com/office/drawing/2014/main" id="{086E8535-0495-4D08-B1C4-6BEF30D7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Стойка, подъёмы, касания. Урок продолжается, когда выполнены условия навыка.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F824D16A-3931-4D7E-92FA-73E7FC41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Формат прямого эфира">
            <a:extLst xmlns:a="http://schemas.openxmlformats.org/drawingml/2006/main">
              <a:ext uri="{FF2B5EF4-FFF2-40B4-BE49-F238E27FC236}">
                <a16:creationId xmlns:a16="http://schemas.microsoft.com/office/drawing/2014/main" id="{41EC3CD2-F47A-4077-B141-B6177955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Формат прямого эфира</a:t>
            </a:r>
          </a:p>
        </p:txBody>
      </p:sp>
      <p:sp>
        <p:nvSpPr>
          <p:cNvPr id="8" name="Одна строка тренера, крупный счётчик и голос. Вопрос мо">
            <a:extLst xmlns:a="http://schemas.openxmlformats.org/drawingml/2006/main">
              <a:ext uri="{FF2B5EF4-FFF2-40B4-BE49-F238E27FC236}">
                <a16:creationId xmlns:a16="http://schemas.microsoft.com/office/drawing/2014/main" id="{4D556714-190A-48AB-BBF0-92C62C62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Одна строка тренера, крупный счётчик и голос. Вопрос можно задать во время занятия.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2C7A4B6F-21BC-4CFC-891C-07F2DAE5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оверяемые факты">
            <a:extLst xmlns:a="http://schemas.openxmlformats.org/drawingml/2006/main">
              <a:ext uri="{FF2B5EF4-FFF2-40B4-BE49-F238E27FC236}">
                <a16:creationId xmlns:a16="http://schemas.microsoft.com/office/drawing/2014/main" id="{DCD2CE3B-5B22-40B1-856F-ADDD1CE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Проверяемые факты</a:t>
            </a:r>
          </a:p>
        </p:txBody>
      </p:sp>
      <p:sp>
        <p:nvSpPr>
          <p:cNvPr id="11" name="Счёт дают правила движения. Языковая модель получает св">
            <a:extLst xmlns:a="http://schemas.openxmlformats.org/drawingml/2006/main">
              <a:ext uri="{FF2B5EF4-FFF2-40B4-BE49-F238E27FC236}">
                <a16:creationId xmlns:a16="http://schemas.microsoft.com/office/drawing/2014/main" id="{E00647C4-3BDB-43C2-8C1E-A8848E7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Счёт дают правила движения. Языковая модель получает сводку и формулирует ответ.</a:t>
            </a:r>
          </a:p>
        </p:txBody>
      </p:sp>
      <p:sp>
        <p:nvSpPr>
          <p:cNvPr id="12" name="Особенность Aimo: сценарий обучения связывает зрение, у">
            <a:extLst xmlns:a="http://schemas.openxmlformats.org/drawingml/2006/main">
              <a:ext uri="{FF2B5EF4-FFF2-40B4-BE49-F238E27FC236}">
                <a16:creationId xmlns:a16="http://schemas.microsoft.com/office/drawing/2014/main" id="{40444478-5083-4E36-B109-AF40546A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Особенность Aimo: сценарий обучения связывает зрение, урок и диалог в одном эфире.</a:t>
            </a:r>
          </a:p>
        </p:txBody>
      </p:sp>
      <p:sp>
        <p:nvSpPr>
          <p:cNvPr id="13" name="Aimo   /   Отличие решения   /   3 из 15">
            <a:extLst xmlns:a="http://schemas.openxmlformats.org/drawingml/2006/main">
              <a:ext uri="{FF2B5EF4-FFF2-40B4-BE49-F238E27FC236}">
                <a16:creationId xmlns:a16="http://schemas.microsoft.com/office/drawing/2014/main" id="{9026BE0D-372A-497A-923A-D95B9DE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Отличие решения   /   3 из 15</a:t>
            </a:r>
          </a:p>
        </p:txBody>
      </p:sp>
    </p:spTree>
    <p:extLst>
      <p:ext uri="{BB962C8B-B14F-4D97-AF65-F5344CB8AC3E}">
        <p14:creationId xmlns:p14="http://schemas.microsoft.com/office/powerpoint/2010/main" val="1978151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ЧЕСТВО ИСПОЛНЕНИЯ 15%">
            <a:extLst xmlns:a="http://schemas.openxmlformats.org/drawingml/2006/main">
              <a:ext uri="{FF2B5EF4-FFF2-40B4-BE49-F238E27FC236}">
                <a16:creationId xmlns:a16="http://schemas.microsoft.com/office/drawing/2014/main" id="{517DFB21-3C9E-48C5-A75D-8B7378D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КАЧЕСТВО ИСПОЛНЕНИЯ 15%</a:t>
            </a:r>
          </a:p>
        </p:txBody>
      </p:sp>
      <p:sp>
        <p:nvSpPr>
          <p:cNvPr id="2" name="Как выглядит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220786E1-2DBE-407C-ADA9-8839450C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Как выглядит приложение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E6DF9-C458-41C9-8AE9-82E33033B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aa41e50134335"/>
          <a:stretch xmlns:a="http://schemas.openxmlformats.org/drawingml/2006/main"/>
        </p:blipFill>
        <p:spPr>
          <a:xfrm xmlns:a="http://schemas.openxmlformats.org/drawingml/2006/main">
            <a:off x="1236357" y="1905000"/>
            <a:ext cx="2004037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Цель и маршрут">
            <a:extLst xmlns:a="http://schemas.openxmlformats.org/drawingml/2006/main">
              <a:ext uri="{FF2B5EF4-FFF2-40B4-BE49-F238E27FC236}">
                <a16:creationId xmlns:a16="http://schemas.microsoft.com/office/drawing/2014/main" id="{28B51443-BF5D-4A73-A898-D7B20FAE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Цель и маршрут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D52F4-3873-4BF6-BDB6-D3E94CF5B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f6e027bc74535"/>
          <a:stretch xmlns:a="http://schemas.openxmlformats.org/drawingml/2006/main"/>
        </p:blipFill>
        <p:spPr>
          <a:xfrm xmlns:a="http://schemas.openxmlformats.org/drawingml/2006/main">
            <a:off x="4951107" y="1905000"/>
            <a:ext cx="200403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Восемь навыков">
            <a:extLst xmlns:a="http://schemas.openxmlformats.org/drawingml/2006/main">
              <a:ext uri="{FF2B5EF4-FFF2-40B4-BE49-F238E27FC236}">
                <a16:creationId xmlns:a16="http://schemas.microsoft.com/office/drawing/2014/main" id="{EAA9049E-1B32-4B72-916D-FE00DA1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7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Восемь навыков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7D92C-923A-4790-A3BC-CEDF4EE7B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db235dd2b4275"/>
          <a:stretch xmlns:a="http://schemas.openxmlformats.org/drawingml/2006/main"/>
        </p:blipFill>
        <p:spPr>
          <a:xfrm xmlns:a="http://schemas.openxmlformats.org/drawingml/2006/main">
            <a:off x="8665857" y="1905000"/>
            <a:ext cx="2004037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Голос и настройки">
            <a:extLst xmlns:a="http://schemas.openxmlformats.org/drawingml/2006/main">
              <a:ext uri="{FF2B5EF4-FFF2-40B4-BE49-F238E27FC236}">
                <a16:creationId xmlns:a16="http://schemas.microsoft.com/office/drawing/2014/main" id="{A596C8A8-15F6-4C67-9690-DB3C462C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7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Голос и настройки</a:t>
            </a:r>
          </a:p>
        </p:txBody>
      </p:sp>
      <p:sp>
        <p:nvSpPr>
          <p:cNvPr id="9" name="Aimo   /   Экраны приложения   /   4 из 15">
            <a:extLst xmlns:a="http://schemas.openxmlformats.org/drawingml/2006/main">
              <a:ext uri="{FF2B5EF4-FFF2-40B4-BE49-F238E27FC236}">
                <a16:creationId xmlns:a16="http://schemas.microsoft.com/office/drawing/2014/main" id="{D9DCDB3A-A43D-4A1F-A0D9-B918B2C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Экраны приложения   /   4 из 15</a:t>
            </a:r>
          </a:p>
        </p:txBody>
      </p:sp>
    </p:spTree>
    <p:extLst>
      <p:ext uri="{BB962C8B-B14F-4D97-AF65-F5344CB8AC3E}">
        <p14:creationId xmlns:p14="http://schemas.microsoft.com/office/powerpoint/2010/main" val="565274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РАБОТОСПОСОБНОСТЬ 20%">
            <a:extLst xmlns:a="http://schemas.openxmlformats.org/drawingml/2006/main">
              <a:ext uri="{FF2B5EF4-FFF2-40B4-BE49-F238E27FC236}">
                <a16:creationId xmlns:a16="http://schemas.microsoft.com/office/drawing/2014/main" id="{B8728F94-A2BF-45BA-BBF4-AF20DCD2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РАБОТОСПОСОБНОСТЬ 20%</a:t>
            </a:r>
          </a:p>
        </p:txBody>
      </p:sp>
      <p:sp>
        <p:nvSpPr>
          <p:cNvPr id="2" name="Основной сценарий за одну минуту">
            <a:extLst xmlns:a="http://schemas.openxmlformats.org/drawingml/2006/main">
              <a:ext uri="{FF2B5EF4-FFF2-40B4-BE49-F238E27FC236}">
                <a16:creationId xmlns:a16="http://schemas.microsoft.com/office/drawing/2014/main" id="{1D6E7DA0-7178-48F6-BB03-F2360C02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Основной сценарий за одну минуту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8050A-5EDF-4427-AC67-8419D3413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cc65c763d49a3"/>
          <a:stretch xmlns:a="http://schemas.openxmlformats.org/drawingml/2006/main"/>
        </p:blipFill>
        <p:spPr>
          <a:xfrm xmlns:a="http://schemas.openxmlformats.org/drawingml/2006/main">
            <a:off x="8903982" y="1905000"/>
            <a:ext cx="2004037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A6BFFDCB-919D-4514-8829-D651C01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Цель в чате">
            <a:extLst xmlns:a="http://schemas.openxmlformats.org/drawingml/2006/main">
              <a:ext uri="{FF2B5EF4-FFF2-40B4-BE49-F238E27FC236}">
                <a16:creationId xmlns:a16="http://schemas.microsoft.com/office/drawing/2014/main" id="{3112A3CA-E84C-40F3-8307-487B63FD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Цель в чате</a:t>
            </a:r>
          </a:p>
        </p:txBody>
      </p:sp>
      <p:sp>
        <p:nvSpPr>
          <p:cNvPr id="6" name="«Хочу укрепить ноги» даёт маршрут занятия.">
            <a:extLst xmlns:a="http://schemas.openxmlformats.org/drawingml/2006/main">
              <a:ext uri="{FF2B5EF4-FFF2-40B4-BE49-F238E27FC236}">
                <a16:creationId xmlns:a16="http://schemas.microsoft.com/office/drawing/2014/main" id="{DF6D8CCA-E3A6-4F72-997D-6635A23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652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«Хочу укрепить ноги» даёт маршрут занятия.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B7A8C743-A562-425E-A4F4-302797BF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Выбор навыка">
            <a:extLst xmlns:a="http://schemas.openxmlformats.org/drawingml/2006/main">
              <a:ext uri="{FF2B5EF4-FFF2-40B4-BE49-F238E27FC236}">
                <a16:creationId xmlns:a16="http://schemas.microsoft.com/office/drawing/2014/main" id="{46B451DF-2D3A-41DD-A413-AEE156E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Выбор навыка</a:t>
            </a:r>
          </a:p>
        </p:txBody>
      </p:sp>
      <p:sp>
        <p:nvSpPr>
          <p:cNvPr id="9" name="Открываем шаги урока и подсказку по ракурсу.">
            <a:extLst xmlns:a="http://schemas.openxmlformats.org/drawingml/2006/main">
              <a:ext uri="{FF2B5EF4-FFF2-40B4-BE49-F238E27FC236}">
                <a16:creationId xmlns:a16="http://schemas.microsoft.com/office/drawing/2014/main" id="{9191C8D5-BB4E-4100-942F-4127E92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652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Открываем шаги урока и подсказку по ракурсу.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1A5E0A66-690C-41C3-9352-2CA25FC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Эфир с камерой">
            <a:extLst xmlns:a="http://schemas.openxmlformats.org/drawingml/2006/main">
              <a:ext uri="{FF2B5EF4-FFF2-40B4-BE49-F238E27FC236}">
                <a16:creationId xmlns:a16="http://schemas.microsoft.com/office/drawing/2014/main" id="{20687C54-2BBF-4A61-B040-11B3A7E2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Эфир с камерой</a:t>
            </a:r>
          </a:p>
        </p:txBody>
      </p:sp>
      <p:sp>
        <p:nvSpPr>
          <p:cNvPr id="12" name="Выполняем движение, видим счёт и подсказку.">
            <a:extLst xmlns:a="http://schemas.openxmlformats.org/drawingml/2006/main">
              <a:ext uri="{FF2B5EF4-FFF2-40B4-BE49-F238E27FC236}">
                <a16:creationId xmlns:a16="http://schemas.microsoft.com/office/drawing/2014/main" id="{239EB386-B53C-4F91-AEE4-D0E179C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652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Выполняем движение, видим счёт и подсказку.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ABE7914C-5571-40FE-9F9A-6199601E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Завершение">
            <a:extLst xmlns:a="http://schemas.openxmlformats.org/drawingml/2006/main">
              <a:ext uri="{FF2B5EF4-FFF2-40B4-BE49-F238E27FC236}">
                <a16:creationId xmlns:a16="http://schemas.microsoft.com/office/drawing/2014/main" id="{F7635F7B-682C-4909-98E6-C1F44311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Завершение</a:t>
            </a:r>
          </a:p>
        </p:txBody>
      </p:sp>
      <p:sp>
        <p:nvSpPr>
          <p:cNvPr id="15" name="Итог появляется в чате и локальной истории.">
            <a:extLst xmlns:a="http://schemas.openxmlformats.org/drawingml/2006/main">
              <a:ext uri="{FF2B5EF4-FFF2-40B4-BE49-F238E27FC236}">
                <a16:creationId xmlns:a16="http://schemas.microsoft.com/office/drawing/2014/main" id="{9BE4DD2C-5AA9-452D-805E-A2C16A9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652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Итог появляется в чате и локальной истории.</a:t>
            </a:r>
          </a:p>
        </p:txBody>
      </p:sp>
      <p:sp>
        <p:nvSpPr>
          <p:cNvPr id="16" name="Резерв на сцене: локальный видеофайл или явно обозначен">
            <a:extLst xmlns:a="http://schemas.openxmlformats.org/drawingml/2006/main">
              <a:ext uri="{FF2B5EF4-FFF2-40B4-BE49-F238E27FC236}">
                <a16:creationId xmlns:a16="http://schemas.microsoft.com/office/drawing/2014/main" id="{3FDF5597-2062-4968-82E1-28D6CBD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Резерв на сцене: локальный видеофайл или явно обозначенная симуляция.</a:t>
            </a:r>
          </a:p>
        </p:txBody>
      </p:sp>
      <p:sp>
        <p:nvSpPr>
          <p:cNvPr id="17" name="Aimo   /   Показ продукта   /   5 из 15">
            <a:extLst xmlns:a="http://schemas.openxmlformats.org/drawingml/2006/main">
              <a:ext uri="{FF2B5EF4-FFF2-40B4-BE49-F238E27FC236}">
                <a16:creationId xmlns:a16="http://schemas.microsoft.com/office/drawing/2014/main" id="{79E72EFD-40E9-4019-83FE-C6AB9744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Показ продукта   /   5 из 15</a:t>
            </a:r>
          </a:p>
        </p:txBody>
      </p:sp>
    </p:spTree>
    <p:extLst>
      <p:ext uri="{BB962C8B-B14F-4D97-AF65-F5344CB8AC3E}">
        <p14:creationId xmlns:p14="http://schemas.microsoft.com/office/powerpoint/2010/main" val="1645484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9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ИИ В ПРОДУКТЕ">
            <a:extLst xmlns:a="http://schemas.openxmlformats.org/drawingml/2006/main">
              <a:ext uri="{FF2B5EF4-FFF2-40B4-BE49-F238E27FC236}">
                <a16:creationId xmlns:a16="http://schemas.microsoft.com/office/drawing/2014/main" id="{5D636C71-14F3-4827-ADE1-BD248292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AAFF"/>
                </a:solidFill>
                <a:latin typeface="Arial"/>
                <a:ea typeface="Arial"/>
                <a:cs typeface="Arial"/>
              </a:rPr>
              <a:t>ИИ В ПРОДУКТЕ</a:t>
            </a:r>
          </a:p>
        </p:txBody>
      </p:sp>
      <p:sp>
        <p:nvSpPr>
          <p:cNvPr id="2" name="Три уровня анализа на устройстве">
            <a:extLst xmlns:a="http://schemas.openxmlformats.org/drawingml/2006/main">
              <a:ext uri="{FF2B5EF4-FFF2-40B4-BE49-F238E27FC236}">
                <a16:creationId xmlns:a16="http://schemas.microsoft.com/office/drawing/2014/main" id="{75CB1729-75B3-42C8-A64C-9A10934B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уровня анализа на устройстве</a:t>
            </a:r>
          </a:p>
        </p:txBody>
      </p:sp>
      <p:sp>
        <p:nvSpPr>
          <p:cNvPr id="3" name="Зрение">
            <a:extLst xmlns:a="http://schemas.openxmlformats.org/drawingml/2006/main">
              <a:ext uri="{FF2B5EF4-FFF2-40B4-BE49-F238E27FC236}">
                <a16:creationId xmlns:a16="http://schemas.microsoft.com/office/drawing/2014/main" id="{A37C7944-F40F-4138-9346-BA90715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Зрение</a:t>
            </a:r>
          </a:p>
        </p:txBody>
      </p:sp>
      <p:sp>
        <p:nvSpPr>
          <p:cNvPr id="4" name="MediaPipe находит позу и предметы. Для мяча учитывается">
            <a:extLst xmlns:a="http://schemas.openxmlformats.org/drawingml/2006/main">
              <a:ext uri="{FF2B5EF4-FFF2-40B4-BE49-F238E27FC236}">
                <a16:creationId xmlns:a16="http://schemas.microsoft.com/office/drawing/2014/main" id="{54E6006F-66BA-4FBC-97FC-2FBFB3FA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MediaPipe находит позу и предметы. Для мяча учитывается только sports ball.</a:t>
            </a:r>
          </a:p>
        </p:txBody>
      </p:sp>
      <p:sp>
        <p:nvSpPr>
          <p:cNvPr id="5" name="Правила движения">
            <a:extLst xmlns:a="http://schemas.openxmlformats.org/drawingml/2006/main">
              <a:ext uri="{FF2B5EF4-FFF2-40B4-BE49-F238E27FC236}">
                <a16:creationId xmlns:a16="http://schemas.microsoft.com/office/drawing/2014/main" id="{2D44A2D3-27B6-4224-A413-591605B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Правила движения</a:t>
            </a:r>
          </a:p>
        </p:txBody>
      </p:sp>
      <p:sp>
        <p:nvSpPr>
          <p:cNvPr id="6" name="Калибровка под человека, цикл повтора и подтверждение о">
            <a:extLst xmlns:a="http://schemas.openxmlformats.org/drawingml/2006/main">
              <a:ext uri="{FF2B5EF4-FFF2-40B4-BE49-F238E27FC236}">
                <a16:creationId xmlns:a16="http://schemas.microsoft.com/office/drawing/2014/main" id="{8B461C34-93B9-4BB5-8600-0F32D223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Калибровка под человека, цикл повтора и подтверждение ошибки. Здесь рождается счёт.</a:t>
            </a:r>
          </a:p>
        </p:txBody>
      </p:sp>
      <p:sp>
        <p:nvSpPr>
          <p:cNvPr id="7" name="Локальная LLM">
            <a:extLst xmlns:a="http://schemas.openxmlformats.org/drawingml/2006/main">
              <a:ext uri="{FF2B5EF4-FFF2-40B4-BE49-F238E27FC236}">
                <a16:creationId xmlns:a16="http://schemas.microsoft.com/office/drawing/2014/main" id="{D3D95C79-8370-4311-AA81-525EF86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Локальная LLM</a:t>
            </a:r>
          </a:p>
        </p:txBody>
      </p:sp>
      <p:sp>
        <p:nvSpPr>
          <p:cNvPr id="8" name="WebLLM и Qwen получают текст и числовую сводку. Код про">
            <a:extLst xmlns:a="http://schemas.openxmlformats.org/drawingml/2006/main">
              <a:ext uri="{FF2B5EF4-FFF2-40B4-BE49-F238E27FC236}">
                <a16:creationId xmlns:a16="http://schemas.microsoft.com/office/drawing/2014/main" id="{F49BF39F-CD79-4463-9909-9255E52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WebLLM и Qwen получают текст и числовую сводку. Код проверяет ответ и числа.</a:t>
            </a:r>
          </a:p>
        </p:txBody>
      </p:sp>
      <p:sp>
        <p:nvSpPr>
          <p:cNvPr id="9" name="Видео остаётся на устройстве. Для Qwen нужен WebGPU и с">
            <a:extLst xmlns:a="http://schemas.openxmlformats.org/drawingml/2006/main">
              <a:ext uri="{FF2B5EF4-FFF2-40B4-BE49-F238E27FC236}">
                <a16:creationId xmlns:a16="http://schemas.microsoft.com/office/drawing/2014/main" id="{DB5C4021-EE72-4CE9-8ACA-A315C8C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 остаётся на устройстве. Для Qwen нужен WebGPU и скачанная модель.</a:t>
            </a:r>
          </a:p>
        </p:txBody>
      </p:sp>
      <p:sp>
        <p:nvSpPr>
          <p:cNvPr id="10" name="Голосовой вопрос: браузер может передавать аудио своему">
            <a:extLst xmlns:a="http://schemas.openxmlformats.org/drawingml/2006/main">
              <a:ext uri="{FF2B5EF4-FFF2-40B4-BE49-F238E27FC236}">
                <a16:creationId xmlns:a16="http://schemas.microsoft.com/office/drawing/2014/main" id="{23DD7CB2-246C-4741-8C41-64B60138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Голосовой вопрос: браузер может передавать аудио своему сервису распознавания.</a:t>
            </a:r>
          </a:p>
        </p:txBody>
      </p:sp>
      <p:sp>
        <p:nvSpPr>
          <p:cNvPr id="11" name="Aimo   /   Архитектура и данные   /   6 из 15">
            <a:extLst xmlns:a="http://schemas.openxmlformats.org/drawingml/2006/main">
              <a:ext uri="{FF2B5EF4-FFF2-40B4-BE49-F238E27FC236}">
                <a16:creationId xmlns:a16="http://schemas.microsoft.com/office/drawing/2014/main" id="{B8A4822D-B681-4BFA-9249-CBABE0D4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5B8BE"/>
                </a:solidFill>
                <a:latin typeface="Arial"/>
                <a:ea typeface="Arial"/>
                <a:cs typeface="Arial"/>
              </a:rPr>
              <a:t>Aimo   /   Архитектура и данные   /   6 из 15</a:t>
            </a:r>
          </a:p>
        </p:txBody>
      </p:sp>
    </p:spTree>
    <p:extLst>
      <p:ext uri="{BB962C8B-B14F-4D97-AF65-F5344CB8AC3E}">
        <p14:creationId xmlns:p14="http://schemas.microsoft.com/office/powerpoint/2010/main" val="990847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АБОТОСПОСОБНОСТЬ 20%">
            <a:extLst xmlns:a="http://schemas.openxmlformats.org/drawingml/2006/main">
              <a:ext uri="{FF2B5EF4-FFF2-40B4-BE49-F238E27FC236}">
                <a16:creationId xmlns:a16="http://schemas.microsoft.com/office/drawing/2014/main" id="{24C4722F-9AC0-479D-9EC3-145422CD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РАБОТОСПОСОБНОСТЬ 20%</a:t>
            </a:r>
          </a:p>
        </p:txBody>
      </p:sp>
      <p:sp>
        <p:nvSpPr>
          <p:cNvPr id="2" name="Проверки и результаты итераций">
            <a:extLst xmlns:a="http://schemas.openxmlformats.org/drawingml/2006/main">
              <a:ext uri="{FF2B5EF4-FFF2-40B4-BE49-F238E27FC236}">
                <a16:creationId xmlns:a16="http://schemas.microsoft.com/office/drawing/2014/main" id="{FA4AF081-1DE3-48AD-83C4-96F13F74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Проверки и результаты итераций</a:t>
            </a:r>
          </a:p>
        </p:txBody>
      </p:sp>
      <p:sp>
        <p:nvSpPr>
          <p:cNvPr id="3" name="187">
            <a:extLst xmlns:a="http://schemas.openxmlformats.org/drawingml/2006/main">
              <a:ext uri="{FF2B5EF4-FFF2-40B4-BE49-F238E27FC236}">
                <a16:creationId xmlns:a16="http://schemas.microsoft.com/office/drawing/2014/main" id="{B7EF27D4-7531-4326-9B73-65332604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187</a:t>
            </a:r>
          </a:p>
        </p:txBody>
      </p:sp>
      <p:sp>
        <p:nvSpPr>
          <p:cNvPr id="4" name="автотестов проходят">
            <a:extLst xmlns:a="http://schemas.openxmlformats.org/drawingml/2006/main">
              <a:ext uri="{FF2B5EF4-FFF2-40B4-BE49-F238E27FC236}">
                <a16:creationId xmlns:a16="http://schemas.microsoft.com/office/drawing/2014/main" id="{37F29EEE-9B36-4469-9646-11E7BB1E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автотестов проходят</a:t>
            </a:r>
          </a:p>
        </p:txBody>
      </p:sp>
      <p:sp>
        <p:nvSpPr>
          <p:cNvPr id="5" name="8">
            <a:extLst xmlns:a="http://schemas.openxmlformats.org/drawingml/2006/main">
              <a:ext uri="{FF2B5EF4-FFF2-40B4-BE49-F238E27FC236}">
                <a16:creationId xmlns:a16="http://schemas.microsoft.com/office/drawing/2014/main" id="{455D7A9A-B4BE-44B0-89DB-3ECD18D2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навыков в каталоге">
            <a:extLst xmlns:a="http://schemas.openxmlformats.org/drawingml/2006/main">
              <a:ext uri="{FF2B5EF4-FFF2-40B4-BE49-F238E27FC236}">
                <a16:creationId xmlns:a16="http://schemas.microsoft.com/office/drawing/2014/main" id="{BE03A069-57DE-4124-BA87-43965C5C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6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навыков в каталоге</a:t>
            </a:r>
          </a:p>
        </p:txBody>
      </p:sp>
      <p:sp>
        <p:nvSpPr>
          <p:cNvPr id="7" name="28">
            <a:extLst xmlns:a="http://schemas.openxmlformats.org/drawingml/2006/main">
              <a:ext uri="{FF2B5EF4-FFF2-40B4-BE49-F238E27FC236}">
                <a16:creationId xmlns:a16="http://schemas.microsoft.com/office/drawing/2014/main" id="{BE7B03C2-DB18-4EAA-9B55-CABB267E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шагов уроков">
            <a:extLst xmlns:a="http://schemas.openxmlformats.org/drawingml/2006/main">
              <a:ext uri="{FF2B5EF4-FFF2-40B4-BE49-F238E27FC236}">
                <a16:creationId xmlns:a16="http://schemas.microsoft.com/office/drawing/2014/main" id="{7DB16EE9-CCEE-433D-9816-87215447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шагов уроков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BC214-70CE-45B9-ACC0-AFE20A0C217D}"/>
              </a:ext>
            </a:extLst>
          </p:cNvPr>
          <p:cNvGraphicFramePr/>
          <p:nvPr/>
        </p:nvGraphicFramePr>
        <p:xfrm>
          <a:off xmlns:a="http://schemas.openxmlformats.org/drawingml/2006/main" x="762000" y="3667125"/>
          <a:ext xmlns:a="http://schemas.openxmlformats.org/drawingml/2006/main" cx="106680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1809750"/>
                <a:gridCol w="1809750"/>
              </a:tblGrid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Замечания за 2 минуты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До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После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Приседания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Чеканка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Баланс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Одинаковые синтетические кадры. Сравнение частоты подск">
            <a:extLst xmlns:a="http://schemas.openxmlformats.org/drawingml/2006/main">
              <a:ext uri="{FF2B5EF4-FFF2-40B4-BE49-F238E27FC236}">
                <a16:creationId xmlns:a16="http://schemas.microsoft.com/office/drawing/2014/main" id="{4334D2C6-BDB0-4D46-AD51-E636F278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Одинаковые синтетические кадры. Сравнение частоты подсказок, а не точности распознавания.</a:t>
            </a:r>
          </a:p>
        </p:txBody>
      </p:sp>
      <p:sp>
        <p:nvSpPr>
          <p:cNvPr id="11" name="Aimo   /   Подтверждённые цифры   /   7 из 15">
            <a:extLst xmlns:a="http://schemas.openxmlformats.org/drawingml/2006/main">
              <a:ext uri="{FF2B5EF4-FFF2-40B4-BE49-F238E27FC236}">
                <a16:creationId xmlns:a16="http://schemas.microsoft.com/office/drawing/2014/main" id="{183ED0F4-9D84-4083-AA3F-B4BB2BD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Подтверждённые цифры   /   7 из 15</a:t>
            </a:r>
          </a:p>
        </p:txBody>
      </p:sp>
    </p:spTree>
    <p:extLst>
      <p:ext uri="{BB962C8B-B14F-4D97-AF65-F5344CB8AC3E}">
        <p14:creationId xmlns:p14="http://schemas.microsoft.com/office/powerpoint/2010/main" val="409070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АБОТА В КОМАНДЕ 10%">
            <a:extLst xmlns:a="http://schemas.openxmlformats.org/drawingml/2006/main">
              <a:ext uri="{FF2B5EF4-FFF2-40B4-BE49-F238E27FC236}">
                <a16:creationId xmlns:a16="http://schemas.microsoft.com/office/drawing/2014/main" id="{9CABC77D-313C-40B8-942B-3EB0C9B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РАБОТА В КОМАНДЕ 10%</a:t>
            </a:r>
          </a:p>
        </p:txBody>
      </p:sp>
      <p:sp>
        <p:nvSpPr>
          <p:cNvPr id="2" name="Общий контракт вместо двух отдельных частей">
            <a:extLst xmlns:a="http://schemas.openxmlformats.org/drawingml/2006/main">
              <a:ext uri="{FF2B5EF4-FFF2-40B4-BE49-F238E27FC236}">
                <a16:creationId xmlns:a16="http://schemas.microsoft.com/office/drawing/2014/main" id="{5938217A-8263-432B-A5BC-B2CD724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Общий контракт вместо двух отдельных частей</a:t>
            </a:r>
          </a:p>
        </p:txBody>
      </p:sp>
      <p:sp>
        <p:nvSpPr>
          <p:cNvPr id="3" name="Зоны ответственности">
            <a:extLst xmlns:a="http://schemas.openxmlformats.org/drawingml/2006/main">
              <a:ext uri="{FF2B5EF4-FFF2-40B4-BE49-F238E27FC236}">
                <a16:creationId xmlns:a16="http://schemas.microsoft.com/office/drawing/2014/main" id="{7B5F242A-FF2C-41C9-A43E-42C4E6D2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Зоны ответственности</a:t>
            </a:r>
          </a:p>
        </p:txBody>
      </p:sp>
      <p:sp>
        <p:nvSpPr>
          <p:cNvPr id="4" name="Наран отвечает за продукт и приложение. Максим ведёт мо">
            <a:extLst xmlns:a="http://schemas.openxmlformats.org/drawingml/2006/main">
              <a:ext uri="{FF2B5EF4-FFF2-40B4-BE49-F238E27FC236}">
                <a16:creationId xmlns:a16="http://schemas.microsoft.com/office/drawing/2014/main" id="{839893F1-778F-41D8-951E-1418E538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Наран отвечает за продукт и приложение. Максим ведёт модели, промпты и проверку ответов.</a:t>
            </a:r>
          </a:p>
        </p:txBody>
      </p:sp>
      <p:sp>
        <p:nvSpPr>
          <p:cNvPr id="5" name="Точка интеграции">
            <a:extLst xmlns:a="http://schemas.openxmlformats.org/drawingml/2006/main">
              <a:ext uri="{FF2B5EF4-FFF2-40B4-BE49-F238E27FC236}">
                <a16:creationId xmlns:a16="http://schemas.microsoft.com/office/drawing/2014/main" id="{E19D4211-7F3F-4989-8EB4-266F380C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Точка интеграции</a:t>
            </a:r>
          </a:p>
        </p:txBody>
      </p:sp>
      <p:sp>
        <p:nvSpPr>
          <p:cNvPr id="6" name="Оба участника согласуют формат наблюдений, событий урок">
            <a:extLst xmlns:a="http://schemas.openxmlformats.org/drawingml/2006/main">
              <a:ext uri="{FF2B5EF4-FFF2-40B4-BE49-F238E27FC236}">
                <a16:creationId xmlns:a16="http://schemas.microsoft.com/office/drawing/2014/main" id="{1BA4B054-B8F2-45B2-97E3-2BF42CCD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Оба участника согласуют формат наблюдений, событий урока и сводки для LLM.</a:t>
            </a:r>
          </a:p>
        </p:txBody>
      </p:sp>
      <p:sp>
        <p:nvSpPr>
          <p:cNvPr id="7" name="Совместная приёмка">
            <a:extLst xmlns:a="http://schemas.openxmlformats.org/drawingml/2006/main">
              <a:ext uri="{FF2B5EF4-FFF2-40B4-BE49-F238E27FC236}">
                <a16:creationId xmlns:a16="http://schemas.microsoft.com/office/drawing/2014/main" id="{40A13E49-FBFC-4222-BAF3-7BF01D97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Совместная приёмка</a:t>
            </a:r>
          </a:p>
        </p:txBody>
      </p:sp>
      <p:sp>
        <p:nvSpPr>
          <p:cNvPr id="8" name="Изменение проходит тесты, проверку в Chrome и просмотр ">
            <a:extLst xmlns:a="http://schemas.openxmlformats.org/drawingml/2006/main">
              <a:ext uri="{FF2B5EF4-FFF2-40B4-BE49-F238E27FC236}">
                <a16:creationId xmlns:a16="http://schemas.microsoft.com/office/drawing/2014/main" id="{A2B47238-9FE5-432E-B53B-9AB450D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Изменение проходит тесты, проверку в Chrome и просмотр результата участниками.</a:t>
            </a:r>
          </a:p>
        </p:txBody>
      </p:sp>
      <p:sp>
        <p:nvSpPr>
          <p:cNvPr id="9" name="Пример решения">
            <a:extLst xmlns:a="http://schemas.openxmlformats.org/drawingml/2006/main">
              <a:ext uri="{FF2B5EF4-FFF2-40B4-BE49-F238E27FC236}">
                <a16:creationId xmlns:a16="http://schemas.microsoft.com/office/drawing/2014/main" id="{3EC1B4F9-B253-4E26-9204-F3B92DBA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Пример решения</a:t>
            </a:r>
          </a:p>
        </p:txBody>
      </p:sp>
      <p:sp>
        <p:nvSpPr>
          <p:cNvPr id="10" name="Детектор видит разные предметы, но счёт касаний получае">
            <a:extLst xmlns:a="http://schemas.openxmlformats.org/drawingml/2006/main">
              <a:ext uri="{FF2B5EF4-FFF2-40B4-BE49-F238E27FC236}">
                <a16:creationId xmlns:a16="http://schemas.microsoft.com/office/drawing/2014/main" id="{6CFFFAF2-81AD-4233-9D93-F6198BC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Детектор видит разные предметы, но счёт касаний получает только подтверждённый класс sports ball.</a:t>
            </a:r>
          </a:p>
        </p:txBody>
      </p:sp>
      <p:sp>
        <p:nvSpPr>
          <p:cNvPr id="11" name="Aimo   /   Вклад людей   /   8 из 15">
            <a:extLst xmlns:a="http://schemas.openxmlformats.org/drawingml/2006/main">
              <a:ext uri="{FF2B5EF4-FFF2-40B4-BE49-F238E27FC236}">
                <a16:creationId xmlns:a16="http://schemas.microsoft.com/office/drawing/2014/main" id="{27FE3855-9D5D-4A3D-95AF-E470F9C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Вклад людей   /   8 из 15</a:t>
            </a:r>
          </a:p>
        </p:txBody>
      </p:sp>
    </p:spTree>
    <p:extLst>
      <p:ext uri="{BB962C8B-B14F-4D97-AF65-F5344CB8AC3E}">
        <p14:creationId xmlns:p14="http://schemas.microsoft.com/office/powerpoint/2010/main" val="633828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ОЛИ КОМАНДЫ">
            <a:extLst xmlns:a="http://schemas.openxmlformats.org/drawingml/2006/main">
              <a:ext uri="{FF2B5EF4-FFF2-40B4-BE49-F238E27FC236}">
                <a16:creationId xmlns:a16="http://schemas.microsoft.com/office/drawing/2014/main" id="{376563B7-9613-4012-A1C2-2F7919A8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2" name="Два участника, две зоны ответственности">
            <a:extLst xmlns:a="http://schemas.openxmlformats.org/drawingml/2006/main">
              <a:ext uri="{FF2B5EF4-FFF2-40B4-BE49-F238E27FC236}">
                <a16:creationId xmlns:a16="http://schemas.microsoft.com/office/drawing/2014/main" id="{7A792CDD-8B59-4887-B9AA-AA91FA2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Два участника, две зоны ответственности</a:t>
            </a:r>
          </a:p>
        </p:txBody>
      </p:sp>
      <p:sp>
        <p:nvSpPr>
          <p:cNvPr id="3" name="Наран · тимлид и full-stack">
            <a:extLst xmlns:a="http://schemas.openxmlformats.org/drawingml/2006/main">
              <a:ext uri="{FF2B5EF4-FFF2-40B4-BE49-F238E27FC236}">
                <a16:creationId xmlns:a16="http://schemas.microsoft.com/office/drawing/2014/main" id="{80B68065-C351-4516-B926-6D4A96FD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Наран · тимлид и full-stack</a:t>
            </a:r>
          </a:p>
        </p:txBody>
      </p:sp>
      <p:sp>
        <p:nvSpPr>
          <p:cNvPr id="4" name="Определяет продуктовый сценарий, соединяет интерфейс и ">
            <a:extLst xmlns:a="http://schemas.openxmlformats.org/drawingml/2006/main">
              <a:ext uri="{FF2B5EF4-FFF2-40B4-BE49-F238E27FC236}">
                <a16:creationId xmlns:a16="http://schemas.microsoft.com/office/drawing/2014/main" id="{4AFD6D40-AE1F-4544-8A77-CC170A6D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905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Определяет продуктовый сценарий, соединяет интерфейс и анализ, ведёт Git и публикацию. Принимает решения по интеграции.</a:t>
            </a:r>
          </a:p>
        </p:txBody>
      </p:sp>
      <p:sp>
        <p:nvSpPr>
          <p:cNvPr id="5" name="Максим · ML/LLM-инженер">
            <a:extLst xmlns:a="http://schemas.openxmlformats.org/drawingml/2006/main">
              <a:ext uri="{FF2B5EF4-FFF2-40B4-BE49-F238E27FC236}">
                <a16:creationId xmlns:a16="http://schemas.microsoft.com/office/drawing/2014/main" id="{D96215F5-1A87-44FA-AE64-C3888605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Максим · ML/LLM-инженер</a:t>
            </a:r>
          </a:p>
        </p:txBody>
      </p:sp>
      <p:sp>
        <p:nvSpPr>
          <p:cNvPr id="6" name="Разрабатывает анализ движений и локальную LLM. Отвечает">
            <a:extLst xmlns:a="http://schemas.openxmlformats.org/drawingml/2006/main">
              <a:ext uri="{FF2B5EF4-FFF2-40B4-BE49-F238E27FC236}">
                <a16:creationId xmlns:a16="http://schemas.microsoft.com/office/drawing/2014/main" id="{18F48A64-EF30-48E0-B811-A4C85FC2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4905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Разрабатывает анализ движений и локальную LLM. Отвечает за промпты, проверку ответов и эксперименты.</a:t>
            </a:r>
          </a:p>
        </p:txBody>
      </p:sp>
      <p:sp>
        <p:nvSpPr>
          <p:cNvPr id="7" name="Общее">
            <a:extLst xmlns:a="http://schemas.openxmlformats.org/drawingml/2006/main">
              <a:ext uri="{FF2B5EF4-FFF2-40B4-BE49-F238E27FC236}">
                <a16:creationId xmlns:a16="http://schemas.microsoft.com/office/drawing/2014/main" id="{5F602AB5-6773-4FEE-96A3-B59211DC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Общее</a:t>
            </a:r>
          </a:p>
        </p:txBody>
      </p:sp>
      <p:sp>
        <p:nvSpPr>
          <p:cNvPr id="8" name="Оба участника тестируют сценарий на телефонах, разбираю">
            <a:extLst xmlns:a="http://schemas.openxmlformats.org/drawingml/2006/main">
              <a:ext uri="{FF2B5EF4-FFF2-40B4-BE49-F238E27FC236}">
                <a16:creationId xmlns:a16="http://schemas.microsoft.com/office/drawing/2014/main" id="{E9076C39-C087-493E-93E2-B0E83504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Оба участника тестируют сценарий на телефонах, разбирают дефекты и подтверждают изменения перед выпуском.</a:t>
            </a:r>
          </a:p>
        </p:txBody>
      </p:sp>
      <p:sp>
        <p:nvSpPr>
          <p:cNvPr id="9" name="Aimo   /   Разделение обязанностей   /   9 из 15">
            <a:extLst xmlns:a="http://schemas.openxmlformats.org/drawingml/2006/main">
              <a:ext uri="{FF2B5EF4-FFF2-40B4-BE49-F238E27FC236}">
                <a16:creationId xmlns:a16="http://schemas.microsoft.com/office/drawing/2014/main" id="{2C499994-D2A1-4DBC-BE21-A722836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Разделение обязанностей   /   9 из 15</a:t>
            </a:r>
          </a:p>
        </p:txBody>
      </p:sp>
    </p:spTree>
    <p:extLst>
      <p:ext uri="{BB962C8B-B14F-4D97-AF65-F5344CB8AC3E}">
        <p14:creationId xmlns:p14="http://schemas.microsoft.com/office/powerpoint/2010/main" val="1828212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9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СТЕК ПРОЕКТА">
            <a:extLst xmlns:a="http://schemas.openxmlformats.org/drawingml/2006/main">
              <a:ext uri="{FF2B5EF4-FFF2-40B4-BE49-F238E27FC236}">
                <a16:creationId xmlns:a16="http://schemas.microsoft.com/office/drawing/2014/main" id="{DDC3023F-E3F1-4EBB-97FA-737A4BB6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AAFF"/>
                </a:solidFill>
                <a:latin typeface="Arial"/>
                <a:ea typeface="Arial"/>
                <a:cs typeface="Arial"/>
              </a:rPr>
              <a:t>СТЕК ПРОЕКТА</a:t>
            </a:r>
          </a:p>
        </p:txBody>
      </p:sp>
      <p:sp>
        <p:nvSpPr>
          <p:cNvPr id="2" name="Технологии и работа с ИИ">
            <a:extLst xmlns:a="http://schemas.openxmlformats.org/drawingml/2006/main">
              <a:ext uri="{FF2B5EF4-FFF2-40B4-BE49-F238E27FC236}">
                <a16:creationId xmlns:a16="http://schemas.microsoft.com/office/drawing/2014/main" id="{D0553EFF-B11F-440E-9C2C-D851352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Технологии и работа с ИИ</a:t>
            </a:r>
          </a:p>
        </p:txBody>
      </p:sp>
      <p:sp>
        <p:nvSpPr>
          <p:cNvPr id="3" name="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C2CFF599-701C-489C-86A6-BBC7094E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Приложение</a:t>
            </a:r>
          </a:p>
        </p:txBody>
      </p:sp>
      <p:sp>
        <p:nvSpPr>
          <p:cNvPr id="4" name="HTML, CSS и JavaScript-модули без сборки. PWA, Service ">
            <a:extLst xmlns:a="http://schemas.openxmlformats.org/drawingml/2006/main">
              <a:ext uri="{FF2B5EF4-FFF2-40B4-BE49-F238E27FC236}">
                <a16:creationId xmlns:a16="http://schemas.microsoft.com/office/drawing/2014/main" id="{161EB3C9-D462-4C2D-81D7-08038DC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HTML, CSS и JavaScript-модули без сборки. PWA, Service Worker, IndexedDB и GitHub Pages.</a:t>
            </a:r>
          </a:p>
        </p:txBody>
      </p:sp>
      <p:sp>
        <p:nvSpPr>
          <p:cNvPr id="5" name="ИИ в продукте">
            <a:extLst xmlns:a="http://schemas.openxmlformats.org/drawingml/2006/main">
              <a:ext uri="{FF2B5EF4-FFF2-40B4-BE49-F238E27FC236}">
                <a16:creationId xmlns:a16="http://schemas.microsoft.com/office/drawing/2014/main" id="{F7C5D527-5255-4DDD-95DA-2780B3BD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 в продукте</a:t>
            </a:r>
          </a:p>
        </p:txBody>
      </p:sp>
      <p:sp>
        <p:nvSpPr>
          <p:cNvPr id="6" name="MediaPipe Pose и Object Detector. WebLLM 0.2.86 запуска">
            <a:extLst xmlns:a="http://schemas.openxmlformats.org/drawingml/2006/main">
              <a:ext uri="{FF2B5EF4-FFF2-40B4-BE49-F238E27FC236}">
                <a16:creationId xmlns:a16="http://schemas.microsoft.com/office/drawing/2014/main" id="{CDC20A31-98A3-4417-9295-8890EC4D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MediaPipe Pose и Object Detector. WebLLM 0.2.86 запускает Qwen2.5 1.5B или 0.5B через WebGPU.</a:t>
            </a:r>
          </a:p>
        </p:txBody>
      </p:sp>
      <p:sp>
        <p:nvSpPr>
          <p:cNvPr id="7" name="Разработка с ИИ">
            <a:extLst xmlns:a="http://schemas.openxmlformats.org/drawingml/2006/main">
              <a:ext uri="{FF2B5EF4-FFF2-40B4-BE49-F238E27FC236}">
                <a16:creationId xmlns:a16="http://schemas.microsoft.com/office/drawing/2014/main" id="{622B73FC-A996-4D0E-90FA-FDA54185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с ИИ</a:t>
            </a:r>
          </a:p>
        </p:txBody>
      </p:sp>
      <p:sp>
        <p:nvSpPr>
          <p:cNvPr id="8" name="Агенты Codex и Claude Code работают по ролям. Context7 ">
            <a:extLst xmlns:a="http://schemas.openxmlformats.org/drawingml/2006/main">
              <a:ext uri="{FF2B5EF4-FFF2-40B4-BE49-F238E27FC236}">
                <a16:creationId xmlns:a16="http://schemas.microsoft.com/office/drawing/2014/main" id="{B07BAE1D-CE49-4B0C-8BDC-21507B9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32099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Агенты Codex и Claude Code работают по ролям. Context7 MCP сверяет API MediaPipe и WebLLM.</a:t>
            </a:r>
          </a:p>
        </p:txBody>
      </p:sp>
      <p:sp>
        <p:nvSpPr>
          <p:cNvPr id="9" name="Голос">
            <a:extLst xmlns:a="http://schemas.openxmlformats.org/drawingml/2006/main">
              <a:ext uri="{FF2B5EF4-FFF2-40B4-BE49-F238E27FC236}">
                <a16:creationId xmlns:a16="http://schemas.microsoft.com/office/drawing/2014/main" id="{D6F1D3AC-E72F-4D5E-838B-B161EF5C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9A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9AAFF"/>
                </a:solidFill>
                <a:latin typeface="Arial"/>
                <a:ea typeface="Arial"/>
                <a:cs typeface="Arial"/>
              </a:rPr>
              <a:t>Голос</a:t>
            </a:r>
          </a:p>
        </p:txBody>
      </p:sp>
      <p:sp>
        <p:nvSpPr>
          <p:cNvPr id="10" name="Piper озвучивает подсказки локально. Web Speech API при">
            <a:extLst xmlns:a="http://schemas.openxmlformats.org/drawingml/2006/main">
              <a:ext uri="{FF2B5EF4-FFF2-40B4-BE49-F238E27FC236}">
                <a16:creationId xmlns:a16="http://schemas.microsoft.com/office/drawing/2014/main" id="{D8C95D59-B00D-4145-A641-0BB6D89B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768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Piper озвучивает подсказки локально. Web Speech API принимает голосовой вопрос с разрешения пользователя.</a:t>
            </a:r>
          </a:p>
        </p:txBody>
      </p:sp>
      <p:sp>
        <p:nvSpPr>
          <p:cNvPr id="11" name="LLM получает текст и числовую сводку. Видеокадры ей не ">
            <a:extLst xmlns:a="http://schemas.openxmlformats.org/drawingml/2006/main">
              <a:ext uri="{FF2B5EF4-FFF2-40B4-BE49-F238E27FC236}">
                <a16:creationId xmlns:a16="http://schemas.microsoft.com/office/drawing/2014/main" id="{24DDDE27-A758-47C9-A62C-101B14A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DD0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DD0D5"/>
                </a:solidFill>
                <a:latin typeface="Arial"/>
                <a:ea typeface="Arial"/>
                <a:cs typeface="Arial"/>
              </a:rPr>
              <a:t>LLM получает текст и числовую сводку. Видеокадры ей не передаются.</a:t>
            </a:r>
          </a:p>
        </p:txBody>
      </p:sp>
      <p:sp>
        <p:nvSpPr>
          <p:cNvPr id="12" name="Aimo   /   Технологии   /   10 из 15">
            <a:extLst xmlns:a="http://schemas.openxmlformats.org/drawingml/2006/main">
              <a:ext uri="{FF2B5EF4-FFF2-40B4-BE49-F238E27FC236}">
                <a16:creationId xmlns:a16="http://schemas.microsoft.com/office/drawing/2014/main" id="{F79D38A2-17AB-404C-8D6B-467B03B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5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5B8BE"/>
                </a:solidFill>
                <a:latin typeface="Arial"/>
                <a:ea typeface="Arial"/>
                <a:cs typeface="Arial"/>
              </a:rPr>
              <a:t>Aimo   /   Технологии   /   10 из 15</a:t>
            </a:r>
          </a:p>
        </p:txBody>
      </p:sp>
    </p:spTree>
    <p:extLst>
      <p:ext uri="{BB962C8B-B14F-4D97-AF65-F5344CB8AC3E}">
        <p14:creationId xmlns:p14="http://schemas.microsoft.com/office/powerpoint/2010/main" val="10940085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ИСПОЛЬЗОВАНИЕ ИИ 10%">
            <a:extLst xmlns:a="http://schemas.openxmlformats.org/drawingml/2006/main">
              <a:ext uri="{FF2B5EF4-FFF2-40B4-BE49-F238E27FC236}">
                <a16:creationId xmlns:a16="http://schemas.microsoft.com/office/drawing/2014/main" id="{4CB4B82C-704C-4A01-A10F-A9F31D6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ИСПОЛЬЗОВАНИЕ ИИ 10%</a:t>
            </a:r>
          </a:p>
        </p:txBody>
      </p:sp>
      <p:sp>
        <p:nvSpPr>
          <p:cNvPr id="2" name="ИИ в разработке: задача, код, проверка">
            <a:extLst xmlns:a="http://schemas.openxmlformats.org/drawingml/2006/main">
              <a:ext uri="{FF2B5EF4-FFF2-40B4-BE49-F238E27FC236}">
                <a16:creationId xmlns:a16="http://schemas.microsoft.com/office/drawing/2014/main" id="{3268090F-6374-4FD6-95C5-AD075266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ИИ в разработке: задача, код, проверка</a:t>
            </a:r>
          </a:p>
        </p:txBody>
      </p:sp>
      <p:sp>
        <p:nvSpPr>
          <p:cNvPr id="3" name="Постановка">
            <a:extLst xmlns:a="http://schemas.openxmlformats.org/drawingml/2006/main">
              <a:ext uri="{FF2B5EF4-FFF2-40B4-BE49-F238E27FC236}">
                <a16:creationId xmlns:a16="http://schemas.microsoft.com/office/drawing/2014/main" id="{9462E523-8912-4F82-9A1C-0C35A38E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Постановка</a:t>
            </a:r>
          </a:p>
        </p:txBody>
      </p:sp>
      <p:sp>
        <p:nvSpPr>
          <p:cNvPr id="4" name="Люди задают сценарий, присылают запись экрана и формули">
            <a:extLst xmlns:a="http://schemas.openxmlformats.org/drawingml/2006/main">
              <a:ext uri="{FF2B5EF4-FFF2-40B4-BE49-F238E27FC236}">
                <a16:creationId xmlns:a16="http://schemas.microsoft.com/office/drawing/2014/main" id="{CA123100-9F85-4BF5-93FD-5A3818E4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Люди задают сценарий, присылают запись экрана и формулируют дефект.</a:t>
            </a:r>
          </a:p>
        </p:txBody>
      </p:sp>
      <p:sp>
        <p:nvSpPr>
          <p:cNvPr id="5" name="Разделение">
            <a:extLst xmlns:a="http://schemas.openxmlformats.org/drawingml/2006/main">
              <a:ext uri="{FF2B5EF4-FFF2-40B4-BE49-F238E27FC236}">
                <a16:creationId xmlns:a16="http://schemas.microsoft.com/office/drawing/2014/main" id="{587E049E-5616-4B6B-8E84-583E162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Разделение</a:t>
            </a:r>
          </a:p>
        </p:txBody>
      </p:sp>
      <p:sp>
        <p:nvSpPr>
          <p:cNvPr id="6" name="Агенты frontend, vision, coach-llm и root работают по к">
            <a:extLst xmlns:a="http://schemas.openxmlformats.org/drawingml/2006/main">
              <a:ext uri="{FF2B5EF4-FFF2-40B4-BE49-F238E27FC236}">
                <a16:creationId xmlns:a16="http://schemas.microsoft.com/office/drawing/2014/main" id="{2545897C-4813-4EE6-9D69-95D2C0F8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990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Агенты frontend, vision, coach-llm и root работают по контрактам файлов.</a:t>
            </a:r>
          </a:p>
        </p:txBody>
      </p:sp>
      <p:sp>
        <p:nvSpPr>
          <p:cNvPr id="7" name="Реализация">
            <a:extLst xmlns:a="http://schemas.openxmlformats.org/drawingml/2006/main">
              <a:ext uri="{FF2B5EF4-FFF2-40B4-BE49-F238E27FC236}">
                <a16:creationId xmlns:a16="http://schemas.microsoft.com/office/drawing/2014/main" id="{FB403A4D-3D6F-48F4-93B1-934AD01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Реализация</a:t>
            </a:r>
          </a:p>
        </p:txBody>
      </p:sp>
      <p:sp>
        <p:nvSpPr>
          <p:cNvPr id="8" name="Агенты пишут код и тесты. API MediaPipe и WebLLM сверяю">
            <a:extLst xmlns:a="http://schemas.openxmlformats.org/drawingml/2006/main">
              <a:ext uri="{FF2B5EF4-FFF2-40B4-BE49-F238E27FC236}">
                <a16:creationId xmlns:a16="http://schemas.microsoft.com/office/drawing/2014/main" id="{C54C5DFC-8177-4C77-BC86-8ABD2F24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6240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Агенты пишут код и тесты. API MediaPipe и WebLLM сверяют через Context7.</a:t>
            </a:r>
          </a:p>
        </p:txBody>
      </p:sp>
      <p:sp>
        <p:nvSpPr>
          <p:cNvPr id="9" name="Приёмка">
            <a:extLst xmlns:a="http://schemas.openxmlformats.org/drawingml/2006/main">
              <a:ext uri="{FF2B5EF4-FFF2-40B4-BE49-F238E27FC236}">
                <a16:creationId xmlns:a16="http://schemas.microsoft.com/office/drawing/2014/main" id="{1824DA58-E1F4-4945-B8F7-AD149F8C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10" name="Тесты и Chrome проверяют изменение. Люди принимают резу">
            <a:extLst xmlns:a="http://schemas.openxmlformats.org/drawingml/2006/main">
              <a:ext uri="{FF2B5EF4-FFF2-40B4-BE49-F238E27FC236}">
                <a16:creationId xmlns:a16="http://schemas.microsoft.com/office/drawing/2014/main" id="{4EA449FA-F9FA-47D7-AAAF-2FC242E1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14900"/>
            <a:ext cx="795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Тесты и Chrome проверяют изменение. Люди принимают результат и выпускают версию.</a:t>
            </a:r>
          </a:p>
        </p:txBody>
      </p:sp>
      <p:sp>
        <p:nvSpPr>
          <p:cNvPr id="11" name="Aimo   /   Пайплайн разработки   /   11 из 15">
            <a:extLst xmlns:a="http://schemas.openxmlformats.org/drawingml/2006/main">
              <a:ext uri="{FF2B5EF4-FFF2-40B4-BE49-F238E27FC236}">
                <a16:creationId xmlns:a16="http://schemas.microsoft.com/office/drawing/2014/main" id="{09A04ABA-AF78-4258-AE37-011E9D5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Пайплайн разработки   /   11 из 15</a:t>
            </a:r>
          </a:p>
        </p:txBody>
      </p:sp>
    </p:spTree>
    <p:extLst>
      <p:ext uri="{BB962C8B-B14F-4D97-AF65-F5344CB8AC3E}">
        <p14:creationId xmlns:p14="http://schemas.microsoft.com/office/powerpoint/2010/main" val="305224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ВЫВОДЫ РАЗРАБОТКИ">
            <a:extLst xmlns:a="http://schemas.openxmlformats.org/drawingml/2006/main">
              <a:ext uri="{FF2B5EF4-FFF2-40B4-BE49-F238E27FC236}">
                <a16:creationId xmlns:a16="http://schemas.microsoft.com/office/drawing/2014/main" id="{4013F69E-CDE8-4035-8128-F8362E82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ВЫВОДЫ РАЗРАБОТКИ</a:t>
            </a:r>
          </a:p>
        </p:txBody>
      </p:sp>
      <p:sp>
        <p:nvSpPr>
          <p:cNvPr id="2" name="Саморефлексия команды">
            <a:extLst xmlns:a="http://schemas.openxmlformats.org/drawingml/2006/main">
              <a:ext uri="{FF2B5EF4-FFF2-40B4-BE49-F238E27FC236}">
                <a16:creationId xmlns:a16="http://schemas.microsoft.com/office/drawing/2014/main" id="{50E2ECE8-7FC4-42BF-814A-DB6C1BDE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Саморефлексия команды</a:t>
            </a:r>
          </a:p>
        </p:txBody>
      </p:sp>
      <p:sp>
        <p:nvSpPr>
          <p:cNvPr id="3" name="Что сработало">
            <a:extLst xmlns:a="http://schemas.openxmlformats.org/drawingml/2006/main">
              <a:ext uri="{FF2B5EF4-FFF2-40B4-BE49-F238E27FC236}">
                <a16:creationId xmlns:a16="http://schemas.microsoft.com/office/drawing/2014/main" id="{4070ED99-DB86-431C-9F92-8971A790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Что сработало</a:t>
            </a:r>
          </a:p>
        </p:txBody>
      </p:sp>
      <p:sp>
        <p:nvSpPr>
          <p:cNvPr id="4" name="Разделили измерение и генерацию речи. Правила определяю">
            <a:extLst xmlns:a="http://schemas.openxmlformats.org/drawingml/2006/main">
              <a:ext uri="{FF2B5EF4-FFF2-40B4-BE49-F238E27FC236}">
                <a16:creationId xmlns:a16="http://schemas.microsoft.com/office/drawing/2014/main" id="{5A38D2F3-96B5-45C3-AB99-5AF906E8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905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Разделили измерение и генерацию речи. Правила определяют результат, LLM делает ответ естественнее.</a:t>
            </a:r>
          </a:p>
        </p:txBody>
      </p:sp>
      <p:sp>
        <p:nvSpPr>
          <p:cNvPr id="5" name="Что недооценили">
            <a:extLst xmlns:a="http://schemas.openxmlformats.org/drawingml/2006/main">
              <a:ext uri="{FF2B5EF4-FFF2-40B4-BE49-F238E27FC236}">
                <a16:creationId xmlns:a16="http://schemas.microsoft.com/office/drawing/2014/main" id="{C3200EED-7FC5-4F87-A374-EA3D5FC0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Что недооценили</a:t>
            </a:r>
          </a:p>
        </p:txBody>
      </p:sp>
      <p:sp>
        <p:nvSpPr>
          <p:cNvPr id="6" name="Камера, клавиатура и кеш на телефоне потребовали нескол">
            <a:extLst xmlns:a="http://schemas.openxmlformats.org/drawingml/2006/main">
              <a:ext uri="{FF2B5EF4-FFF2-40B4-BE49-F238E27FC236}">
                <a16:creationId xmlns:a16="http://schemas.microsoft.com/office/drawing/2014/main" id="{A178475A-E78D-4189-87A1-3054DA5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00350"/>
            <a:ext cx="4905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Камера, клавиатура и кеш на телефоне потребовали нескольких итераций. Демо не выявляет все ошибки реального видео.</a:t>
            </a:r>
          </a:p>
        </p:txBody>
      </p:sp>
      <p:sp>
        <p:nvSpPr>
          <p:cNvPr id="7" name="Главный вывод">
            <a:extLst xmlns:a="http://schemas.openxmlformats.org/drawingml/2006/main">
              <a:ext uri="{FF2B5EF4-FFF2-40B4-BE49-F238E27FC236}">
                <a16:creationId xmlns:a16="http://schemas.microsoft.com/office/drawing/2014/main" id="{D7DE4EA5-F02F-4A9C-8FDD-3DFC350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Главный вывод</a:t>
            </a:r>
          </a:p>
        </p:txBody>
      </p:sp>
      <p:sp>
        <p:nvSpPr>
          <p:cNvPr id="8" name="В следующей итерации начнём с одного навыка на реальных">
            <a:extLst xmlns:a="http://schemas.openxmlformats.org/drawingml/2006/main">
              <a:ext uri="{FF2B5EF4-FFF2-40B4-BE49-F238E27FC236}">
                <a16:creationId xmlns:a16="http://schemas.microsoft.com/office/drawing/2014/main" id="{CDF85053-E96C-434D-B136-E153B90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В следующей итерации начнём с одного навыка на реальных телефонах. Расширять каталог будем после сравнения счёта с ручной разметкой.</a:t>
            </a:r>
          </a:p>
        </p:txBody>
      </p:sp>
      <p:sp>
        <p:nvSpPr>
          <p:cNvPr id="9" name="Aimo   /   Что поняли и изменим   /   12 из 15">
            <a:extLst xmlns:a="http://schemas.openxmlformats.org/drawingml/2006/main">
              <a:ext uri="{FF2B5EF4-FFF2-40B4-BE49-F238E27FC236}">
                <a16:creationId xmlns:a16="http://schemas.microsoft.com/office/drawing/2014/main" id="{372AD0B8-146A-46A1-A2D1-C80672DD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Что поняли и изменим   /   12 из 15</a:t>
            </a:r>
          </a:p>
        </p:txBody>
      </p:sp>
    </p:spTree>
    <p:extLst>
      <p:ext uri="{BB962C8B-B14F-4D97-AF65-F5344CB8AC3E}">
        <p14:creationId xmlns:p14="http://schemas.microsoft.com/office/powerpoint/2010/main" val="4169327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FF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ОЛЬЗА И ГРАНИЦЫ ПРОТОТИПА">
            <a:extLst xmlns:a="http://schemas.openxmlformats.org/drawingml/2006/main">
              <a:ext uri="{FF2B5EF4-FFF2-40B4-BE49-F238E27FC236}">
                <a16:creationId xmlns:a16="http://schemas.microsoft.com/office/drawing/2014/main" id="{DF9447D9-11F6-4D69-935E-12C169C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ПОЛЬЗА И ГРАНИЦЫ ПРОТОТИПА</a:t>
            </a:r>
          </a:p>
        </p:txBody>
      </p:sp>
      <p:sp>
        <p:nvSpPr>
          <p:cNvPr id="2" name="Следующая итерация: проверка с новичками">
            <a:extLst xmlns:a="http://schemas.openxmlformats.org/drawingml/2006/main">
              <a:ext uri="{FF2B5EF4-FFF2-40B4-BE49-F238E27FC236}">
                <a16:creationId xmlns:a16="http://schemas.microsoft.com/office/drawing/2014/main" id="{44F9C006-D1D0-4D76-8D10-A242F1B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Следующая итерация: проверка с новичками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86373-5906-401C-BBD7-0B48CE43129B}"/>
              </a:ext>
            </a:extLst>
          </p:cNvPr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7000875"/>
              </a:tblGrid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Как поймём 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Счёт на iPhone и Android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Сравним с ручным счётом на одних и тех же записях.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Работа в реальном кадре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Зафиксируем свет, ракурс, потерю тела и частоту анализа.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Понятность урока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Предложим 3–5 новичкам пройти занятие без подсказок команды.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Камера и голос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Проверим смену камеры, возврат из фона и задержку речи.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Это план проверки. Метрики точности и пользовательской ">
            <a:extLst xmlns:a="http://schemas.openxmlformats.org/drawingml/2006/main">
              <a:ext uri="{FF2B5EF4-FFF2-40B4-BE49-F238E27FC236}">
                <a16:creationId xmlns:a16="http://schemas.microsoft.com/office/drawing/2014/main" id="{E0830641-1F99-4624-8306-B9D9105A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Это план проверки. Метрики точности и пользовательской пользы ещё не получены.</a:t>
            </a:r>
          </a:p>
        </p:txBody>
      </p:sp>
      <p:sp>
        <p:nvSpPr>
          <p:cNvPr id="5" name="Aimo   /   План и ограничения   /   13 из 15">
            <a:extLst xmlns:a="http://schemas.openxmlformats.org/drawingml/2006/main">
              <a:ext uri="{FF2B5EF4-FFF2-40B4-BE49-F238E27FC236}">
                <a16:creationId xmlns:a16="http://schemas.microsoft.com/office/drawing/2014/main" id="{5AB5B95B-DA64-47EF-9EBF-8047B12E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План и ограничения   /   13 из 15</a:t>
            </a:r>
          </a:p>
        </p:txBody>
      </p:sp>
    </p:spTree>
    <p:extLst>
      <p:ext uri="{BB962C8B-B14F-4D97-AF65-F5344CB8AC3E}">
        <p14:creationId xmlns:p14="http://schemas.microsoft.com/office/powerpoint/2010/main" val="4276692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6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imo">
            <a:extLst xmlns:a="http://schemas.openxmlformats.org/drawingml/2006/main">
              <a:ext uri="{FF2B5EF4-FFF2-40B4-BE49-F238E27FC236}">
                <a16:creationId xmlns:a16="http://schemas.microsoft.com/office/drawing/2014/main" id="{08CF4BEE-BE15-4569-BAA5-FF93326B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809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aimo</a:t>
            </a:r>
          </a:p>
        </p:txBody>
      </p:sp>
      <p:sp>
        <p:nvSpPr>
          <p:cNvPr id="2" name="Тренировка начинается&#10;с понятного следующего шага">
            <a:extLst xmlns:a="http://schemas.openxmlformats.org/drawingml/2006/main">
              <a:ext uri="{FF2B5EF4-FFF2-40B4-BE49-F238E27FC236}">
                <a16:creationId xmlns:a16="http://schemas.microsoft.com/office/drawing/2014/main" id="{80C350E1-2484-4CF1-9F78-4241AFD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Тренировка начинается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понятного следующего шага</a:t>
            </a:r>
          </a:p>
        </p:txBody>
      </p:sp>
      <p:sp>
        <p:nvSpPr>
          <p:cNvPr id="3" name="Рабочее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93504178-ECA3-466B-AF9E-89404A2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Рабочее приложение</a:t>
            </a:r>
          </a:p>
        </p:txBody>
      </p:sp>
      <p:sp>
        <p:nvSpPr>
          <p:cNvPr id="4" name="https://nomad-dreamteam.github.io/Aimo/">
            <a:extLst xmlns:a="http://schemas.openxmlformats.org/drawingml/2006/main">
              <a:ext uri="{FF2B5EF4-FFF2-40B4-BE49-F238E27FC236}">
                <a16:creationId xmlns:a16="http://schemas.microsoft.com/office/drawing/2014/main" id="{85046315-8CF9-4EA3-B1CF-CB4B8D5F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661ec816c34a4c69"/>
              </a:rPr>
              <a:t>https://nomad-dreamteam.github.io/Aimo/</a:t>
            </a:r>
          </a:p>
        </p:txBody>
      </p:sp>
      <p:sp>
        <p:nvSpPr>
          <p:cNvPr id="5" name="Исходный код и релиз: github.com/noMad-dreamteam/Aimo">
            <a:extLst xmlns:a="http://schemas.openxmlformats.org/drawingml/2006/main">
              <a:ext uri="{FF2B5EF4-FFF2-40B4-BE49-F238E27FC236}">
                <a16:creationId xmlns:a16="http://schemas.microsoft.com/office/drawing/2014/main" id="{25F81016-7664-419D-837B-BA2DFB2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b1e8c7579f73470f"/>
              </a:rPr>
              <a:t>Исходный код и релиз: github.com/noMad-dreamteam/Aimo</a:t>
            </a:r>
          </a:p>
        </p:txBody>
      </p:sp>
    </p:spTree>
    <p:extLst>
      <p:ext uri="{BB962C8B-B14F-4D97-AF65-F5344CB8AC3E}">
        <p14:creationId xmlns:p14="http://schemas.microsoft.com/office/powerpoint/2010/main" val="10207967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СПРАВОЧНЫЙ СЛАЙД">
            <a:extLst xmlns:a="http://schemas.openxmlformats.org/drawingml/2006/main">
              <a:ext uri="{FF2B5EF4-FFF2-40B4-BE49-F238E27FC236}">
                <a16:creationId xmlns:a16="http://schemas.microsoft.com/office/drawing/2014/main" id="{48E8DBA6-671E-4FCA-9A84-1ED82A5B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6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66FF"/>
                </a:solidFill>
                <a:latin typeface="Arial"/>
                <a:ea typeface="Arial"/>
                <a:cs typeface="Arial"/>
              </a:rPr>
              <a:t>СПРАВОЧНЫЙ СЛАЙД</a:t>
            </a:r>
          </a:p>
        </p:txBody>
      </p:sp>
      <p:sp>
        <p:nvSpPr>
          <p:cNvPr id="2" name="Соответствие критериям жюри">
            <a:extLst xmlns:a="http://schemas.openxmlformats.org/drawingml/2006/main">
              <a:ext uri="{FF2B5EF4-FFF2-40B4-BE49-F238E27FC236}">
                <a16:creationId xmlns:a16="http://schemas.microsoft.com/office/drawing/2014/main" id="{A644A882-69FB-4F41-9EFE-28EEC184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Соответствие критериям жюри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E27D6-2131-480B-934D-B84499C46661}"/>
              </a:ext>
            </a:extLst>
          </p:cNvPr>
          <p:cNvGraphicFramePr/>
          <p:nvPr/>
        </p:nvGraphicFramePr>
        <p:xfrm>
          <a:off xmlns:a="http://schemas.openxmlformats.org/drawingml/2006/main" x="762000" y="2019300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952500"/>
                <a:gridCol w="6953250"/>
              </a:tblGrid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Вес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Что показываем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T w="9525">
                      <a:solidFill>
                        <a:srgbClr val="D4D8DE"/>
                      </a:solidFill>
                      <a:prstDash val="solid"/>
                    </a:lnT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E7F0FF"/>
                    </a:solidFill>
                  </a:tcPr>
                </a:tc>
              </a:tr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Оригинальность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Урок по наблюдениям, эфир и диалог (слайд 3).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Польза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новичка и план проверки гипотезы (2, 13).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Работоспособность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Сценарий демонстрации и 187 тестов (5, 7).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исполнения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Реальные экраны, голос, проверки и ограничения (4, 6, 7).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Работа в команде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Контракт команды и роли двух участников (8, 9).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Использование 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8DE"/>
                      </a:solidFill>
                      <a:prstDash val="solid"/>
                    </a:lnL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Стек, агенты, MCP и пайплайн проверки (10, 11).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8DE"/>
                      </a:solidFill>
                      <a:prstDash val="solid"/>
                    </a:lnR>
                    <a:lnB w="9525">
                      <a:solidFill>
                        <a:srgbClr val="D4D8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imo   /   Карта защиты   /   15 из 15">
            <a:extLst xmlns:a="http://schemas.openxmlformats.org/drawingml/2006/main">
              <a:ext uri="{FF2B5EF4-FFF2-40B4-BE49-F238E27FC236}">
                <a16:creationId xmlns:a16="http://schemas.microsoft.com/office/drawing/2014/main" id="{F95C4DF0-53B3-4F76-B102-FF63C73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12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Aimo   /   Карта защиты   /   15 из 15</a:t>
            </a:r>
          </a:p>
        </p:txBody>
      </p:sp>
    </p:spTree>
    <p:extLst>
      <p:ext uri="{BB962C8B-B14F-4D97-AF65-F5344CB8AC3E}">
        <p14:creationId xmlns:p14="http://schemas.microsoft.com/office/powerpoint/2010/main" val="1151392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2026-10-25T14:40:12.5840000Z</dcterms:created>
  <dcterms:modified xsi:type="dcterms:W3CDTF">2026-10-25T14:40:12.5840000Z</dcterms:modified>
</coreProperties>
</file>