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95c134a6cf4079" /><Relationship Type="http://schemas.openxmlformats.org/officeDocument/2006/relationships/extended-properties" Target="/docProps/app.xml" Id="R305f9eb01b03473f" /><Relationship Type="http://schemas.openxmlformats.org/officeDocument/2006/relationships/officeDocument" Target="/ppt/presentation.xml" Id="R872d0dd6b92640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04050174f642dc"/>
  </p:sldMasterIdLst>
  <p:notesMasterIdLst>
    <p:notesMasterId xmlns:r="http://schemas.openxmlformats.org/officeDocument/2006/relationships" r:id="R01cf1e715da5436c"/>
  </p:notesMasterIdLst>
  <p:sldIdLst>
    <p:sldId xmlns:r="http://schemas.openxmlformats.org/officeDocument/2006/relationships" id="256" r:id="R68bfe1d6093e411e"/>
    <p:sldId xmlns:r="http://schemas.openxmlformats.org/officeDocument/2006/relationships" id="257" r:id="Ra185534584ca4c5f"/>
    <p:sldId xmlns:r="http://schemas.openxmlformats.org/officeDocument/2006/relationships" id="258" r:id="Rc88e2b2d2b564cdb"/>
    <p:sldId xmlns:r="http://schemas.openxmlformats.org/officeDocument/2006/relationships" id="259" r:id="Rdf183e358bf54979"/>
    <p:sldId xmlns:r="http://schemas.openxmlformats.org/officeDocument/2006/relationships" id="260" r:id="Rfef45d2c80de4ca7"/>
    <p:sldId xmlns:r="http://schemas.openxmlformats.org/officeDocument/2006/relationships" id="261" r:id="R03676ced81704336"/>
    <p:sldId xmlns:r="http://schemas.openxmlformats.org/officeDocument/2006/relationships" id="262" r:id="Rce151f2f3006442d"/>
    <p:sldId xmlns:r="http://schemas.openxmlformats.org/officeDocument/2006/relationships" id="263" r:id="Rbbb477f9491241c6"/>
    <p:sldId xmlns:r="http://schemas.openxmlformats.org/officeDocument/2006/relationships" id="264" r:id="R22ace24c8278417a"/>
    <p:sldId xmlns:r="http://schemas.openxmlformats.org/officeDocument/2006/relationships" id="265" r:id="R8deac8ed04194e59"/>
    <p:sldId xmlns:r="http://schemas.openxmlformats.org/officeDocument/2006/relationships" id="266" r:id="R67a318f163d548fa"/>
    <p:sldId xmlns:r="http://schemas.openxmlformats.org/officeDocument/2006/relationships" id="267" r:id="R86b96fc471b148fc"/>
    <p:sldId xmlns:r="http://schemas.openxmlformats.org/officeDocument/2006/relationships" id="268" r:id="R98ec9f42708041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ec9b1307e04678" /><Relationship Type="http://schemas.openxmlformats.org/officeDocument/2006/relationships/slideMaster" Target="/ppt/slideMasters/slideMaster1.xml" Id="Ra504050174f642dc" /><Relationship Type="http://schemas.openxmlformats.org/officeDocument/2006/relationships/notesMaster" Target="/ppt/notesMasters/notesMaster1.xml" Id="R01cf1e715da5436c" /><Relationship Type="http://schemas.openxmlformats.org/officeDocument/2006/relationships/presProps" Target="/ppt/presProps.xml" Id="Rc6fd9e97fc2446f7" /><Relationship Type="http://schemas.openxmlformats.org/officeDocument/2006/relationships/tableStyles" Target="/ppt/tableStyles.xml" Id="Ra2ebad11a3384015" /><Relationship Type="http://schemas.openxmlformats.org/officeDocument/2006/relationships/slide" Target="/ppt/slides/slide1.xml" Id="R68bfe1d6093e411e" /><Relationship Type="http://schemas.openxmlformats.org/officeDocument/2006/relationships/slide" Target="/ppt/slides/slide2.xml" Id="Ra185534584ca4c5f" /><Relationship Type="http://schemas.openxmlformats.org/officeDocument/2006/relationships/slide" Target="/ppt/slides/slide3.xml" Id="Rc88e2b2d2b564cdb" /><Relationship Type="http://schemas.openxmlformats.org/officeDocument/2006/relationships/slide" Target="/ppt/slides/slide4.xml" Id="Rdf183e358bf54979" /><Relationship Type="http://schemas.openxmlformats.org/officeDocument/2006/relationships/slide" Target="/ppt/slides/slide5.xml" Id="Rfef45d2c80de4ca7" /><Relationship Type="http://schemas.openxmlformats.org/officeDocument/2006/relationships/slide" Target="/ppt/slides/slide6.xml" Id="R03676ced81704336" /><Relationship Type="http://schemas.openxmlformats.org/officeDocument/2006/relationships/slide" Target="/ppt/slides/slide7.xml" Id="Rce151f2f3006442d" /><Relationship Type="http://schemas.openxmlformats.org/officeDocument/2006/relationships/slide" Target="/ppt/slides/slide8.xml" Id="Rbbb477f9491241c6" /><Relationship Type="http://schemas.openxmlformats.org/officeDocument/2006/relationships/slide" Target="/ppt/slides/slide9.xml" Id="R22ace24c8278417a" /><Relationship Type="http://schemas.openxmlformats.org/officeDocument/2006/relationships/slide" Target="/ppt/slides/slide10.xml" Id="R8deac8ed04194e59" /><Relationship Type="http://schemas.openxmlformats.org/officeDocument/2006/relationships/slide" Target="/ppt/slides/slide11.xml" Id="R67a318f163d548fa" /><Relationship Type="http://schemas.openxmlformats.org/officeDocument/2006/relationships/slide" Target="/ppt/slides/slide12.xml" Id="R86b96fc471b148fc" /><Relationship Type="http://schemas.openxmlformats.org/officeDocument/2006/relationships/slide" Target="/ppt/slides/slide13.xml" Id="R98ec9f42708041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b15fab592e40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ee41c87ca24f93" /><Relationship Type="http://schemas.openxmlformats.org/officeDocument/2006/relationships/notesMaster" Target="/ppt/notesMasters/notesMaster1.xml" Id="R803206c34bb643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77f79c53914836" /><Relationship Type="http://schemas.openxmlformats.org/officeDocument/2006/relationships/notesMaster" Target="/ppt/notesMasters/notesMaster1.xml" Id="R3e8a2ae5ec5044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696a0e40164996" /><Relationship Type="http://schemas.openxmlformats.org/officeDocument/2006/relationships/notesMaster" Target="/ppt/notesMasters/notesMaster1.xml" Id="Rc3b865e7baa34d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6e2f0c1ac34b70" /><Relationship Type="http://schemas.openxmlformats.org/officeDocument/2006/relationships/notesMaster" Target="/ppt/notesMasters/notesMaster1.xml" Id="R4d9c77f83e0c42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0f42f2e98145be" /><Relationship Type="http://schemas.openxmlformats.org/officeDocument/2006/relationships/notesMaster" Target="/ppt/notesMasters/notesMaster1.xml" Id="R7b462c375a0148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409da6244d43d6" /><Relationship Type="http://schemas.openxmlformats.org/officeDocument/2006/relationships/notesMaster" Target="/ppt/notesMasters/notesMaster1.xml" Id="Rad9a819216524a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56cf2a97364a69" /><Relationship Type="http://schemas.openxmlformats.org/officeDocument/2006/relationships/notesMaster" Target="/ppt/notesMasters/notesMaster1.xml" Id="Rc743d634dbf24e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82c3d8451e49e4" /><Relationship Type="http://schemas.openxmlformats.org/officeDocument/2006/relationships/notesMaster" Target="/ppt/notesMasters/notesMaster1.xml" Id="Re2afeabf86574a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6a05dea9d34604" /><Relationship Type="http://schemas.openxmlformats.org/officeDocument/2006/relationships/notesMaster" Target="/ppt/notesMasters/notesMaster1.xml" Id="Rc2cee21bf66f46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346a8cf1a347eb" /><Relationship Type="http://schemas.openxmlformats.org/officeDocument/2006/relationships/notesMaster" Target="/ppt/notesMasters/notesMaster1.xml" Id="R1fddfc3bcb394e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8e82ca059c41b4" /><Relationship Type="http://schemas.openxmlformats.org/officeDocument/2006/relationships/notesMaster" Target="/ppt/notesMasters/notesMaster1.xml" Id="R1d3e0194850844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4e38f142c4410a" /><Relationship Type="http://schemas.openxmlformats.org/officeDocument/2006/relationships/notesMaster" Target="/ppt/notesMasters/notesMaster1.xml" Id="Rea205e93b7764e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c2bca8b7454826" /><Relationship Type="http://schemas.openxmlformats.org/officeDocument/2006/relationships/notesMaster" Target="/ppt/notesMasters/notesMaster1.xml" Id="R7573235948fd41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Aimo помогает новичку заниматься самостоятельно. Главный сценарий: цель в чате, маршрут из навыков, тренировка с камерой и итог. Видео анализируется на устройстве. Далее покажем основной сценарий и границы прототипа.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Исходная презентация, слайд 1; README.md; docs/AI_STRATEGY.md.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Целевая аудитория первого сценария: начинающий пользователь, который учится чеканить мяч. На хакатоне мы сделали инструмент обратной связи. Мы пока не проводили пользовательский эксперимент и не заявляем снижение травматизма или доказанный рост навыка.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Исходная презентация, слайд 2; docs/PROMPT.md; docs/TEST_PLAN.md.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предлагаем сочетание управляемого урока, интерфейса эфира и проверяемой речи. Это описание нашей идеи, а не утверждение об отсутствии аналогов на рынке. Модель позы сама не решает, что навык освоен: условия задаёт модуль навыка. Например, стойка требует удержания, а повтор требует целого цикла движения.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skills/football.js; skills/squats.js; coach-motion.js; coach-engine.js; app/live.js; coach-llm.js.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реальные снимки приложения из Chrome с локальным тестовым профилем. В каталоге восемь навыков: футбол, силовые упражнения и кардио. В настройках четыре самостоятельных голоса Piper и системные голоса, громкость и скорость. По умолчанию выбран Дмитрий со скоростью 0,7. Для локального голоса нужно явное скачивание.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docs/screenshots/{chat,skills,profile}.png; app/voice-models.js; app/store.js; 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сцене начинаем с работающего приложения. Выбираем приседания, ставим телефон так, чтобы тело было видно целиком, и показываем повтор с замечанием или изменением счётчика. Если камера недоступна, используем заранее подготовленное видео через «Открыть видео». «Демо без камеры» честно называем симуляцией: оно не доказывает точность распознавания человека и не попадает в историю. Голосовой вопрос показываем только при разрешённом микрофоне и доступном распознавании браузера.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app/main.js; app/live.js; skills/squats.js;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Правила работают без языковой модели. При сбое LLM тренер использует фразу из банка. В эфире LLM видит числовую сводку, а в чате подбора также текст цели и каталог навыков. Ни один из этих запросов не содержит видеокадры. Офлайн доступны заранее загруженные компоненты: первый запуск и загрузка весов требуют сети. Piper работает локально, но его движок при первом запуске загружает модули с CDN. Для браузерного распознавания голосового вопроса может понадобиться сеть.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coach-motion.js; coach-policy.js; coach-llm.js; coach-planner.js; app/tts-worker.js; app/speech.js; sw.js.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187 тестов прошли при подготовке этой версии. Они проверяют логику счёта, шум ориентиров, отсутствие человека, ложные касания, смену камеры, голос и данные. Числа 29/13, 35/6 и 15/6 взяты из ранее зафиксированного эксперимента в журнале. Он показывает, что тренер стал реже отвлекать пользователя на одинаковых демо-кадрах. Это не метрика точности модели. Unit-тесты не заменяют проверку реального движения на разных телефонах.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node --test (25.10.2026); docs/AI_STRATEGY.md, раздел «25 октября: проверка движений и тренер без флуда»; skills/index.js.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Источником распределения служат журнал и история изменений, а не количество строк кода. Максим вёл интеграцию и агентов Claude Code. Наран публиковал сайт, развивал интерфейс и голосовые настройки, приносил обратную связь с телефона. Пример совместного решения при объединении: детектор распознаёт предметы для всех навыков, но только sports ball участвует в касаниях. Участники проверяют решения агентов и принимают продуктовые решения.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docs/AI_STRATEGY.md: «Роли людей», «25 октября: синхронизация с работой Нарана»; git log; AGENTS.md.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продукте работают MediaPipe, правила и Qwen. В разработке использовали агентов Claude Code и Codex для кода, тестов, интеграции и документации, а генерацию изображений для иконки. Context7 подключён как MCP-сервер для сверки API. В AGENTS.md зафиксированы владение файлами и контракты. Журнал содержит наблюдение, исправление и способ проверки. Агент развития имеет дорожную карту, но не работает самостоятельно по расписанию.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AGENTS.md; .mcp.json; docs/AI_STRATEGY.md; docs/ICON_PROMPT.txt; .codex/agents/feature_developer.toml.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Наш сильный результат: полный сценарий работает, правила тестируются, модель не отвечает за измерения. Слабое место: мы расширили каталог быстрее, чем собрали записи реальных пользователей. Много времени ушло на стык браузера, камеры и голоса. Мы также увидели цену параллельной работы: разные версии правил и интерфейса приходится объединять вручную. Дальше нам важнее измерить ошибки счёта на телефонах, чем добавить ещё несколько упражнений. Подробная саморефлексия приложена отдельным текстом.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docs/AI_STRATEGY.md; docs/TEST_PLAN.md; docs/FEATURE_ROADMAP.md; история задач пользователя.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Сначала тестируем основной сценарий чеканки и один простой силовой навык. Для каждого видео вручную отмечаем реальные повторы или касания, затем сравниваем пропуски и ложные срабатывания. Частоту позы измеряем на устройстве: 8 кадров в секунду пока является требованием проекта, а не подтверждённым результатом для всех телефонов. Успех пользовательской проверки: человек самостоятельно начинает занятие, понимает замечание и находит итог. Мы не выдаём запланированные отзывы за собранные.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docs/TEST_PLAN.md; docs/FEATURE_ROADMAP.md; AGENTS.md.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Предлагаем открыть приложение и пройти один шаг упражнения. Если есть время, отвечаем на вопросы о правилах движения, приватности и использовании ИИ в разработке. Следующий слайд служит справкой по критериям жюри.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README.md; GitHub Pages проекта.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Веса взяты из предоставленного пользователем изображения критериев: 25+20+20+15+10+10=100%. Этот слайд является картой доказательств, а не самооценкой в баллах.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Изображение критериев, предоставленное пользователем 25.10.2026.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72d4167ac349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de480969c24b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25a06429f64fc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e21f6d28b47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d0a9bc2a842b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2ee2484d0340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2FD0805-D591-4F87-9BDB-B2C9E2FD3E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7FA642-EDA6-47A7-B6E5-955B022933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B2CC957-F45D-4D3E-863C-D1ADD87608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CDD063-86B4-43F7-8DFE-1D2652C9D5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70853E9-DC3A-46A4-98E6-DF9D5DEA2D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348B77-C7F3-49B8-9F1D-01D58EB595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0A4E5A-ECDB-480B-89BA-D10AA9FEFB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69159FB-A116-4F29-9C63-A5C9B020A5C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C73ADB-3A73-4A56-93DF-55C7CCEDB7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BAF50DE-3330-433A-B1CD-6F2F3A0F11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2f74472b94cf7" /><Relationship Type="http://schemas.openxmlformats.org/officeDocument/2006/relationships/slideLayout" Target="/ppt/slideLayouts/slideLayout1.xml" Id="Reda5106fabc04370" /><Relationship Type="http://schemas.openxmlformats.org/officeDocument/2006/relationships/slideLayout" Target="/ppt/slideLayouts/slideLayout2.xml" Id="Rbd6c38a8cf5b421c" /><Relationship Type="http://schemas.openxmlformats.org/officeDocument/2006/relationships/slideLayout" Target="/ppt/slideLayouts/slideLayout3.xml" Id="Rb00fd7cee07a4674" /><Relationship Type="http://schemas.openxmlformats.org/officeDocument/2006/relationships/slideLayout" Target="/ppt/slideLayouts/slideLayout4.xml" Id="Reb5540df1929418d" /><Relationship Type="http://schemas.openxmlformats.org/officeDocument/2006/relationships/slideLayout" Target="/ppt/slideLayouts/slideLayout5.xml" Id="Rbb478db5091c4711" /><Relationship Type="http://schemas.openxmlformats.org/officeDocument/2006/relationships/slideLayout" Target="/ppt/slideLayouts/slideLayout6.xml" Id="R3301c53998104e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a5106fabc04370"/>
    <p:sldLayoutId xmlns:r="http://schemas.openxmlformats.org/officeDocument/2006/relationships" id="2147483650" r:id="Rbd6c38a8cf5b421c"/>
    <p:sldLayoutId xmlns:r="http://schemas.openxmlformats.org/officeDocument/2006/relationships" id="2147483651" r:id="Rb00fd7cee07a4674"/>
    <p:sldLayoutId xmlns:r="http://schemas.openxmlformats.org/officeDocument/2006/relationships" id="2147483652" r:id="Reb5540df1929418d"/>
    <p:sldLayoutId xmlns:r="http://schemas.openxmlformats.org/officeDocument/2006/relationships" id="2147483653" r:id="Rbb478db5091c4711"/>
    <p:sldLayoutId xmlns:r="http://schemas.openxmlformats.org/officeDocument/2006/relationships" id="2147483654" r:id="R3301c53998104e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74d491542444be" /><Relationship Type="http://schemas.openxmlformats.org/officeDocument/2006/relationships/notesSlide" Target="/ppt/notesSlides/notesSlide1.xml" Id="R4e0f927e98ea4e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85254f97c542e8" /><Relationship Type="http://schemas.openxmlformats.org/officeDocument/2006/relationships/notesSlide" Target="/ppt/notesSlides/notesSlide2.xml" Id="R29c05098555d4c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f8e0cba77745de" /><Relationship Type="http://schemas.openxmlformats.org/officeDocument/2006/relationships/notesSlide" Target="/ppt/notesSlides/notesSlide3.xml" Id="R78c5c7ff24b044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76ec7cedf04569" /><Relationship Type="http://schemas.openxmlformats.org/officeDocument/2006/relationships/image" Target="/ppt/media/image.png" Id="R621ab8d885e24ec7" /><Relationship Type="http://schemas.openxmlformats.org/officeDocument/2006/relationships/image" Target="/ppt/media/image2.png" Id="R5355480619fb4b8f" /><Relationship Type="http://schemas.openxmlformats.org/officeDocument/2006/relationships/image" Target="/ppt/media/image3.png" Id="R4aa43459a9534b5f" /><Relationship Type="http://schemas.openxmlformats.org/officeDocument/2006/relationships/notesSlide" Target="/ppt/notesSlides/notesSlide4.xml" Id="Rfec9359211da4e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062c6542f6477f" /><Relationship Type="http://schemas.openxmlformats.org/officeDocument/2006/relationships/image" Target="/ppt/media/image4.png" Id="R769f66882c5a4b0d" /><Relationship Type="http://schemas.openxmlformats.org/officeDocument/2006/relationships/notesSlide" Target="/ppt/notesSlides/notesSlide5.xml" Id="Re8c135260a0b43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27381284c24989" /><Relationship Type="http://schemas.openxmlformats.org/officeDocument/2006/relationships/notesSlide" Target="/ppt/notesSlides/notesSlide6.xml" Id="Rcf6812ebfdb349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6e7cd1b16343b8" /><Relationship Type="http://schemas.openxmlformats.org/officeDocument/2006/relationships/notesSlide" Target="/ppt/notesSlides/notesSlide7.xml" Id="R7fa54a7465934c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58753ec5b948d6" /><Relationship Type="http://schemas.openxmlformats.org/officeDocument/2006/relationships/notesSlide" Target="/ppt/notesSlides/notesSlide8.xml" Id="R63304bde2a5040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bd0bcbd6c24fa2" /><Relationship Type="http://schemas.openxmlformats.org/officeDocument/2006/relationships/notesSlide" Target="/ppt/notesSlides/notesSlide9.xml" Id="Rd0c8984d96f24a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925637864f4967" /><Relationship Type="http://schemas.openxmlformats.org/officeDocument/2006/relationships/notesSlide" Target="/ppt/notesSlides/notesSlide10.xml" Id="Rdd2da480000942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0a23bcd1454309" /><Relationship Type="http://schemas.openxmlformats.org/officeDocument/2006/relationships/notesSlide" Target="/ppt/notesSlides/notesSlide11.xml" Id="R7a2df218275e4f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7233b681e4d4d" /><Relationship Type="http://schemas.openxmlformats.org/officeDocument/2006/relationships/hyperlink" Target="https://nomad-dreamteam.github.io/Aimo/" TargetMode="External" Id="Rbc197438798947b5" /><Relationship Type="http://schemas.openxmlformats.org/officeDocument/2006/relationships/hyperlink" Target="https://github.com/noMad-dreamteam/Aimo" TargetMode="External" Id="R8a27664481694afb" /><Relationship Type="http://schemas.openxmlformats.org/officeDocument/2006/relationships/notesSlide" Target="/ppt/notesSlides/notesSlide12.xml" Id="R3d7a3cec48a049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30b87eeec445bc" /><Relationship Type="http://schemas.openxmlformats.org/officeDocument/2006/relationships/notesSlide" Target="/ppt/notesSlides/notesSlide13.xml" Id="R6b46de73e00647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66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VIBEHACK 2026   /   КОМАНДА noMad">
            <a:extLst xmlns:a="http://schemas.openxmlformats.org/drawingml/2006/main">
              <a:ext uri="{FF2B5EF4-FFF2-40B4-BE49-F238E27FC236}">
                <a16:creationId xmlns:a16="http://schemas.microsoft.com/office/drawing/2014/main" id="{2C020CCC-18AC-42A5-8EB9-D0DC74AE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857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VIBEHACK 2026   /   КОМАНДА noMad</a:t>
            </a:r>
          </a:p>
        </p:txBody>
      </p:sp>
      <p:sp>
        <p:nvSpPr>
          <p:cNvPr id="2" name="aimo">
            <a:extLst xmlns:a="http://schemas.openxmlformats.org/drawingml/2006/main">
              <a:ext uri="{FF2B5EF4-FFF2-40B4-BE49-F238E27FC236}">
                <a16:creationId xmlns:a16="http://schemas.microsoft.com/office/drawing/2014/main" id="{D3108781-66CD-45AC-AE1C-37B03B0B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762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aimo</a:t>
            </a:r>
          </a:p>
        </p:txBody>
      </p:sp>
      <p:sp>
        <p:nvSpPr>
          <p:cNvPr id="3" name="Нейро-тренер в прямом эфире">
            <a:extLst xmlns:a="http://schemas.openxmlformats.org/drawingml/2006/main">
              <a:ext uri="{FF2B5EF4-FFF2-40B4-BE49-F238E27FC236}">
                <a16:creationId xmlns:a16="http://schemas.microsoft.com/office/drawing/2014/main" id="{D318B768-0F54-4DE8-9E17-30439294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Нейро-тренер в прямом эфире</a:t>
            </a:r>
          </a:p>
        </p:txBody>
      </p:sp>
      <p:sp>
        <p:nvSpPr>
          <p:cNvPr id="4" name="Человек ставит телефон, выбирает навык&#10;и получает подск">
            <a:extLst xmlns:a="http://schemas.openxmlformats.org/drawingml/2006/main">
              <a:ext uri="{FF2B5EF4-FFF2-40B4-BE49-F238E27FC236}">
                <a16:creationId xmlns:a16="http://schemas.microsoft.com/office/drawing/2014/main" id="{720DE33D-9399-4E3C-95C3-180CD5C4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Человек ставит телефон, выбирает навык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 получает подсказки по ходу движения.</a:t>
            </a:r>
          </a:p>
        </p:txBody>
      </p:sp>
      <p:sp>
        <p:nvSpPr>
          <p:cNvPr id="5" name="Максим и Наран   /   25 октября 2026">
            <a:extLst xmlns:a="http://schemas.openxmlformats.org/drawingml/2006/main">
              <a:ext uri="{FF2B5EF4-FFF2-40B4-BE49-F238E27FC236}">
                <a16:creationId xmlns:a16="http://schemas.microsoft.com/office/drawing/2014/main" id="{DA66B579-8250-4659-A5C1-C5B110CA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48375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Максим и Наран   /   25 октября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8572121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FF1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ПОЛЬЗА 20%">
            <a:extLst xmlns:a="http://schemas.openxmlformats.org/drawingml/2006/main">
              <a:ext uri="{FF2B5EF4-FFF2-40B4-BE49-F238E27FC236}">
                <a16:creationId xmlns:a16="http://schemas.microsoft.com/office/drawing/2014/main" id="{1424BF64-D942-4487-9211-386D3C0D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ПОЛЬЗА 20%</a:t>
            </a:r>
          </a:p>
        </p:txBody>
      </p:sp>
      <p:sp>
        <p:nvSpPr>
          <p:cNvPr id="2" name="Обратная связь для новичка">
            <a:extLst xmlns:a="http://schemas.openxmlformats.org/drawingml/2006/main">
              <a:ext uri="{FF2B5EF4-FFF2-40B4-BE49-F238E27FC236}">
                <a16:creationId xmlns:a16="http://schemas.microsoft.com/office/drawing/2014/main" id="{47DFEC6C-5B79-4A70-A8AE-9C1A9A54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Обратная связь для новичка</a:t>
            </a:r>
          </a:p>
        </p:txBody>
      </p:sp>
      <p:sp>
        <p:nvSpPr>
          <p:cNvPr id="3" name="Ситуация">
            <a:extLst xmlns:a="http://schemas.openxmlformats.org/drawingml/2006/main">
              <a:ext uri="{FF2B5EF4-FFF2-40B4-BE49-F238E27FC236}">
                <a16:creationId xmlns:a16="http://schemas.microsoft.com/office/drawing/2014/main" id="{9964F175-05A3-405C-BA3B-C97DD878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Ситуация</a:t>
            </a:r>
          </a:p>
        </p:txBody>
      </p:sp>
      <p:sp>
        <p:nvSpPr>
          <p:cNvPr id="4" name="Человек тренируется дома или во дворе. Рядом нет того, ">
            <a:extLst xmlns:a="http://schemas.openxmlformats.org/drawingml/2006/main">
              <a:ext uri="{FF2B5EF4-FFF2-40B4-BE49-F238E27FC236}">
                <a16:creationId xmlns:a16="http://schemas.microsoft.com/office/drawing/2014/main" id="{3E6D573A-817C-4024-82B4-63149711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Человек тренируется дома или во дворе. Рядом нет того, кто подскажет следующий шаг.</a:t>
            </a:r>
          </a:p>
        </p:txBody>
      </p:sp>
      <p:sp>
        <p:nvSpPr>
          <p:cNvPr id="5" name="Трудность">
            <a:extLst xmlns:a="http://schemas.openxmlformats.org/drawingml/2006/main">
              <a:ext uri="{FF2B5EF4-FFF2-40B4-BE49-F238E27FC236}">
                <a16:creationId xmlns:a16="http://schemas.microsoft.com/office/drawing/2014/main" id="{E4EAEBC8-E0A0-4E38-B9DA-C460246B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Трудность</a:t>
            </a:r>
          </a:p>
        </p:txBody>
      </p:sp>
      <p:sp>
        <p:nvSpPr>
          <p:cNvPr id="6" name="По видеоуроку трудно понять, получилось ли движение и ч">
            <a:extLst xmlns:a="http://schemas.openxmlformats.org/drawingml/2006/main">
              <a:ext uri="{FF2B5EF4-FFF2-40B4-BE49-F238E27FC236}">
                <a16:creationId xmlns:a16="http://schemas.microsoft.com/office/drawing/2014/main" id="{7E6DDBD8-0BBC-4926-A323-80C15090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7655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По видеоуроку трудно понять, получилось ли движение и что именно поправить.</a:t>
            </a:r>
          </a:p>
        </p:txBody>
      </p:sp>
      <p:sp>
        <p:nvSpPr>
          <p:cNvPr id="7" name="Наша помощь">
            <a:extLst xmlns:a="http://schemas.openxmlformats.org/drawingml/2006/main">
              <a:ext uri="{FF2B5EF4-FFF2-40B4-BE49-F238E27FC236}">
                <a16:creationId xmlns:a16="http://schemas.microsoft.com/office/drawing/2014/main" id="{B62170D5-3D87-4C95-AFD3-17630DC6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Наша помощь</a:t>
            </a:r>
          </a:p>
        </p:txBody>
      </p:sp>
      <p:sp>
        <p:nvSpPr>
          <p:cNvPr id="8" name="Короткая подсказка во время попытки и понятный план сле">
            <a:extLst xmlns:a="http://schemas.openxmlformats.org/drawingml/2006/main">
              <a:ext uri="{FF2B5EF4-FFF2-40B4-BE49-F238E27FC236}">
                <a16:creationId xmlns:a16="http://schemas.microsoft.com/office/drawing/2014/main" id="{ABE52530-0041-4C15-9715-F70F9CCD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7655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Короткая подсказка во время попытки и понятный план следующего действия.</a:t>
            </a:r>
          </a:p>
        </p:txBody>
      </p:sp>
      <p:sp>
        <p:nvSpPr>
          <p:cNvPr id="9" name="Гипотеза: понятная обратная связь поможет новичку чаще ">
            <a:extLst xmlns:a="http://schemas.openxmlformats.org/drawingml/2006/main">
              <a:ext uri="{FF2B5EF4-FFF2-40B4-BE49-F238E27FC236}">
                <a16:creationId xmlns:a16="http://schemas.microsoft.com/office/drawing/2014/main" id="{706B58FE-A326-42CF-B189-1531D365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Гипотеза: понятная обратная связь поможет новичку чаще завершать занятие.</a:t>
            </a:r>
          </a:p>
        </p:txBody>
      </p:sp>
      <p:sp>
        <p:nvSpPr>
          <p:cNvPr id="10" name="Её ещё предстоит проверить с новичками. Эффект обучения">
            <a:extLst xmlns:a="http://schemas.openxmlformats.org/drawingml/2006/main">
              <a:ext uri="{FF2B5EF4-FFF2-40B4-BE49-F238E27FC236}">
                <a16:creationId xmlns:a16="http://schemas.microsoft.com/office/drawing/2014/main" id="{4C759F63-876B-4B97-B665-1AF0700A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340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Её ещё предстоит проверить с новичками. Эффект обучения пока не измерен.</a:t>
            </a:r>
          </a:p>
        </p:txBody>
      </p:sp>
      <p:sp>
        <p:nvSpPr>
          <p:cNvPr id="11" name="Aimo   /   Проблема и ценность   /   2 из 13">
            <a:extLst xmlns:a="http://schemas.openxmlformats.org/drawingml/2006/main">
              <a:ext uri="{FF2B5EF4-FFF2-40B4-BE49-F238E27FC236}">
                <a16:creationId xmlns:a16="http://schemas.microsoft.com/office/drawing/2014/main" id="{8E3EF86C-0904-484D-9A16-A813F7F6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Проблема и ценность   /   2 из 13</a:t>
            </a:r>
          </a:p>
        </p:txBody>
      </p:sp>
    </p:spTree>
    <p:extLst>
      <p:ext uri="{BB962C8B-B14F-4D97-AF65-F5344CB8AC3E}">
        <p14:creationId xmlns:p14="http://schemas.microsoft.com/office/powerpoint/2010/main" val="20596591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ОРИГИНАЛЬНОСТЬ 25%">
            <a:extLst xmlns:a="http://schemas.openxmlformats.org/drawingml/2006/main">
              <a:ext uri="{FF2B5EF4-FFF2-40B4-BE49-F238E27FC236}">
                <a16:creationId xmlns:a16="http://schemas.microsoft.com/office/drawing/2014/main" id="{D02C12DD-B10D-483B-9CF9-6AC4BA46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ОРИГИНАЛЬНОСТЬ 25%</a:t>
            </a:r>
          </a:p>
        </p:txBody>
      </p:sp>
      <p:sp>
        <p:nvSpPr>
          <p:cNvPr id="2" name="Урок меняется по реальному движению">
            <a:extLst xmlns:a="http://schemas.openxmlformats.org/drawingml/2006/main">
              <a:ext uri="{FF2B5EF4-FFF2-40B4-BE49-F238E27FC236}">
                <a16:creationId xmlns:a16="http://schemas.microsoft.com/office/drawing/2014/main" id="{6801105E-E209-4E07-815B-F5CA816E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Урок меняется по реальному движению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163038A8-612F-4CC6-9F34-88D6D444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71700"/>
            <a:ext cx="142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Шаги по наблюдениям">
            <a:extLst xmlns:a="http://schemas.openxmlformats.org/drawingml/2006/main">
              <a:ext uri="{FF2B5EF4-FFF2-40B4-BE49-F238E27FC236}">
                <a16:creationId xmlns:a16="http://schemas.microsoft.com/office/drawing/2014/main" id="{BABA2AC6-C461-4B37-A9E3-8792CB1C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Шаги по наблюдениям</a:t>
            </a:r>
          </a:p>
        </p:txBody>
      </p:sp>
      <p:sp>
        <p:nvSpPr>
          <p:cNvPr id="5" name="Стойка, подъёмы, касания. Урок продолжается, когда выпо">
            <a:extLst xmlns:a="http://schemas.openxmlformats.org/drawingml/2006/main">
              <a:ext uri="{FF2B5EF4-FFF2-40B4-BE49-F238E27FC236}">
                <a16:creationId xmlns:a16="http://schemas.microsoft.com/office/drawing/2014/main" id="{66C34806-BAA6-44D8-A15A-E1C450A2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Стойка, подъёмы, касания. Урок продолжается, когда выполнены условия навыка.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EAA4D970-80C9-4DBB-A8EB-D76D1418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142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Формат прямого эфира">
            <a:extLst xmlns:a="http://schemas.openxmlformats.org/drawingml/2006/main">
              <a:ext uri="{FF2B5EF4-FFF2-40B4-BE49-F238E27FC236}">
                <a16:creationId xmlns:a16="http://schemas.microsoft.com/office/drawing/2014/main" id="{A79DF47C-EBCB-4D8F-89BC-3165C8A5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Формат прямого эфира</a:t>
            </a:r>
          </a:p>
        </p:txBody>
      </p:sp>
      <p:sp>
        <p:nvSpPr>
          <p:cNvPr id="8" name="Одна строка тренера, крупный счётчик и голос. Вопрос мо">
            <a:extLst xmlns:a="http://schemas.openxmlformats.org/drawingml/2006/main">
              <a:ext uri="{FF2B5EF4-FFF2-40B4-BE49-F238E27FC236}">
                <a16:creationId xmlns:a16="http://schemas.microsoft.com/office/drawing/2014/main" id="{BC094A28-D093-4265-8C4E-574012CF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1950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Одна строка тренера, крупный счётчик и голос. Вопрос можно задать во время занятия.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8B8CDB16-AFD0-495B-B03A-3EC0AD0A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71700"/>
            <a:ext cx="142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Проверяемые факты">
            <a:extLst xmlns:a="http://schemas.openxmlformats.org/drawingml/2006/main">
              <a:ext uri="{FF2B5EF4-FFF2-40B4-BE49-F238E27FC236}">
                <a16:creationId xmlns:a16="http://schemas.microsoft.com/office/drawing/2014/main" id="{A8B063BC-B247-4ADC-99C4-6EA32E06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Проверяемые факты</a:t>
            </a:r>
          </a:p>
        </p:txBody>
      </p:sp>
      <p:sp>
        <p:nvSpPr>
          <p:cNvPr id="11" name="Счёт дают правила движения. Языковая модель получает св">
            <a:extLst xmlns:a="http://schemas.openxmlformats.org/drawingml/2006/main">
              <a:ext uri="{FF2B5EF4-FFF2-40B4-BE49-F238E27FC236}">
                <a16:creationId xmlns:a16="http://schemas.microsoft.com/office/drawing/2014/main" id="{2E96F2DE-0E52-483C-9A18-35329885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1950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Счёт дают правила движения. Языковая модель получает сводку и формулирует ответ.</a:t>
            </a:r>
          </a:p>
        </p:txBody>
      </p:sp>
      <p:sp>
        <p:nvSpPr>
          <p:cNvPr id="12" name="Особенность Aimo: сценарий обучения связывает зрение, у">
            <a:extLst xmlns:a="http://schemas.openxmlformats.org/drawingml/2006/main">
              <a:ext uri="{FF2B5EF4-FFF2-40B4-BE49-F238E27FC236}">
                <a16:creationId xmlns:a16="http://schemas.microsoft.com/office/drawing/2014/main" id="{DC76D76C-D8E7-4071-9ED7-7CCFD6AF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4832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Особенность Aimo: сценарий обучения связывает зрение, урок и диалог в одном эфире.</a:t>
            </a:r>
          </a:p>
        </p:txBody>
      </p:sp>
      <p:sp>
        <p:nvSpPr>
          <p:cNvPr id="13" name="Aimo   /   Отличие решения   /   3 из 13">
            <a:extLst xmlns:a="http://schemas.openxmlformats.org/drawingml/2006/main">
              <a:ext uri="{FF2B5EF4-FFF2-40B4-BE49-F238E27FC236}">
                <a16:creationId xmlns:a16="http://schemas.microsoft.com/office/drawing/2014/main" id="{38678B37-3F65-446E-B83A-5DBBD0FC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Отличие решения   /   3 из 13</a:t>
            </a:r>
          </a:p>
        </p:txBody>
      </p:sp>
    </p:spTree>
    <p:extLst>
      <p:ext uri="{BB962C8B-B14F-4D97-AF65-F5344CB8AC3E}">
        <p14:creationId xmlns:p14="http://schemas.microsoft.com/office/powerpoint/2010/main" val="12054735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FF1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КАЧЕСТВО ИСПОЛНЕНИЯ 15%">
            <a:extLst xmlns:a="http://schemas.openxmlformats.org/drawingml/2006/main">
              <a:ext uri="{FF2B5EF4-FFF2-40B4-BE49-F238E27FC236}">
                <a16:creationId xmlns:a16="http://schemas.microsoft.com/office/drawing/2014/main" id="{B1908BDF-C729-42B2-8306-A96F1AAD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КАЧЕСТВО ИСПОЛНЕНИЯ 15%</a:t>
            </a:r>
          </a:p>
        </p:txBody>
      </p:sp>
      <p:sp>
        <p:nvSpPr>
          <p:cNvPr id="2" name="Как выглядит приложение">
            <a:extLst xmlns:a="http://schemas.openxmlformats.org/drawingml/2006/main">
              <a:ext uri="{FF2B5EF4-FFF2-40B4-BE49-F238E27FC236}">
                <a16:creationId xmlns:a16="http://schemas.microsoft.com/office/drawing/2014/main" id="{98078A8A-6692-49FF-960B-F1C0C1EA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Как выглядит приложение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48E34-7091-4559-A14D-A7AEC073A5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ab8d885e24ec7"/>
          <a:stretch xmlns:a="http://schemas.openxmlformats.org/drawingml/2006/main"/>
        </p:blipFill>
        <p:spPr>
          <a:xfrm xmlns:a="http://schemas.openxmlformats.org/drawingml/2006/main">
            <a:off x="1236357" y="1905000"/>
            <a:ext cx="2004037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Цель и маршрут">
            <a:extLst xmlns:a="http://schemas.openxmlformats.org/drawingml/2006/main">
              <a:ext uri="{FF2B5EF4-FFF2-40B4-BE49-F238E27FC236}">
                <a16:creationId xmlns:a16="http://schemas.microsoft.com/office/drawing/2014/main" id="{5FE7CB21-7AC9-48E0-B6D6-8797C805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7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Цель и маршрут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FC407-CAD4-4CA8-9D6A-86E0F4969E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5480619fb4b8f"/>
          <a:stretch xmlns:a="http://schemas.openxmlformats.org/drawingml/2006/main"/>
        </p:blipFill>
        <p:spPr>
          <a:xfrm xmlns:a="http://schemas.openxmlformats.org/drawingml/2006/main">
            <a:off x="4951107" y="1905000"/>
            <a:ext cx="2004037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Восемь навыков">
            <a:extLst xmlns:a="http://schemas.openxmlformats.org/drawingml/2006/main">
              <a:ext uri="{FF2B5EF4-FFF2-40B4-BE49-F238E27FC236}">
                <a16:creationId xmlns:a16="http://schemas.microsoft.com/office/drawing/2014/main" id="{2B5ADCA8-3FDF-48BC-8FDF-71E730B2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7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Восемь навыков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7AA2A-C4DB-4B60-A6E0-95B6F1A9FD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43459a9534b5f"/>
          <a:stretch xmlns:a="http://schemas.openxmlformats.org/drawingml/2006/main"/>
        </p:blipFill>
        <p:spPr>
          <a:xfrm xmlns:a="http://schemas.openxmlformats.org/drawingml/2006/main">
            <a:off x="8665857" y="1905000"/>
            <a:ext cx="2004037" cy="4095750"/>
          </a:xfrm>
          <a:prstGeom xmlns:a="http://schemas.openxmlformats.org/drawingml/2006/main" prst="rect">
            <a:avLst/>
          </a:prstGeom>
        </p:spPr>
      </p:pic>
      <p:sp>
        <p:nvSpPr>
          <p:cNvPr id="8" name="Голос и настройки">
            <a:extLst xmlns:a="http://schemas.openxmlformats.org/drawingml/2006/main">
              <a:ext uri="{FF2B5EF4-FFF2-40B4-BE49-F238E27FC236}">
                <a16:creationId xmlns:a16="http://schemas.microsoft.com/office/drawing/2014/main" id="{9300F0D1-B0B9-4F30-B270-7395A8AB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607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Голос и настройки</a:t>
            </a:r>
          </a:p>
        </p:txBody>
      </p:sp>
      <p:sp>
        <p:nvSpPr>
          <p:cNvPr id="9" name="Aimo   /   Экраны приложения   /   4 из 13">
            <a:extLst xmlns:a="http://schemas.openxmlformats.org/drawingml/2006/main">
              <a:ext uri="{FF2B5EF4-FFF2-40B4-BE49-F238E27FC236}">
                <a16:creationId xmlns:a16="http://schemas.microsoft.com/office/drawing/2014/main" id="{5950F422-CCB3-4190-B087-D942B799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Экраны приложения   /   4 из 13</a:t>
            </a:r>
          </a:p>
        </p:txBody>
      </p:sp>
    </p:spTree>
    <p:extLst>
      <p:ext uri="{BB962C8B-B14F-4D97-AF65-F5344CB8AC3E}">
        <p14:creationId xmlns:p14="http://schemas.microsoft.com/office/powerpoint/2010/main" val="540689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РАБОТОСПОСОБНОСТЬ 20%">
            <a:extLst xmlns:a="http://schemas.openxmlformats.org/drawingml/2006/main">
              <a:ext uri="{FF2B5EF4-FFF2-40B4-BE49-F238E27FC236}">
                <a16:creationId xmlns:a16="http://schemas.microsoft.com/office/drawing/2014/main" id="{407AC961-4EC4-4A8A-B061-8C719D0E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РАБОТОСПОСОБНОСТЬ 20%</a:t>
            </a:r>
          </a:p>
        </p:txBody>
      </p:sp>
      <p:sp>
        <p:nvSpPr>
          <p:cNvPr id="2" name="Основной сценарий за одну минуту">
            <a:extLst xmlns:a="http://schemas.openxmlformats.org/drawingml/2006/main">
              <a:ext uri="{FF2B5EF4-FFF2-40B4-BE49-F238E27FC236}">
                <a16:creationId xmlns:a16="http://schemas.microsoft.com/office/drawing/2014/main" id="{4C43F045-0C7D-4216-97B1-29D644EA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Основной сценарий за одну минуту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ADD74-C6D1-4125-BAD6-C557479C38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f66882c5a4b0d"/>
          <a:stretch xmlns:a="http://schemas.openxmlformats.org/drawingml/2006/main"/>
        </p:blipFill>
        <p:spPr>
          <a:xfrm xmlns:a="http://schemas.openxmlformats.org/drawingml/2006/main">
            <a:off x="8903982" y="1905000"/>
            <a:ext cx="2004037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1">
            <a:extLst xmlns:a="http://schemas.openxmlformats.org/drawingml/2006/main">
              <a:ext uri="{FF2B5EF4-FFF2-40B4-BE49-F238E27FC236}">
                <a16:creationId xmlns:a16="http://schemas.microsoft.com/office/drawing/2014/main" id="{E5156F54-9859-4AF2-BADA-3FD2F49F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28825"/>
            <a:ext cx="523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Цель в чате">
            <a:extLst xmlns:a="http://schemas.openxmlformats.org/drawingml/2006/main">
              <a:ext uri="{FF2B5EF4-FFF2-40B4-BE49-F238E27FC236}">
                <a16:creationId xmlns:a16="http://schemas.microsoft.com/office/drawing/2014/main" id="{96CD9BB3-5563-4F48-8BB8-EA5B9EAE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2882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Цель в чате</a:t>
            </a:r>
          </a:p>
        </p:txBody>
      </p:sp>
      <p:sp>
        <p:nvSpPr>
          <p:cNvPr id="6" name="«Хочу укрепить ноги» даёт маршрут занятия.">
            <a:extLst xmlns:a="http://schemas.openxmlformats.org/drawingml/2006/main">
              <a:ext uri="{FF2B5EF4-FFF2-40B4-BE49-F238E27FC236}">
                <a16:creationId xmlns:a16="http://schemas.microsoft.com/office/drawing/2014/main" id="{9922AC02-07B0-4F18-BFAB-E3E1C9A1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00300"/>
            <a:ext cx="652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«Хочу укрепить ноги» даёт маршрут занятия.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919A919C-28F3-41E1-BFF0-44916055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523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Выбор навыка">
            <a:extLst xmlns:a="http://schemas.openxmlformats.org/drawingml/2006/main">
              <a:ext uri="{FF2B5EF4-FFF2-40B4-BE49-F238E27FC236}">
                <a16:creationId xmlns:a16="http://schemas.microsoft.com/office/drawing/2014/main" id="{364DC1B7-D939-42CF-AADA-38F59276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8132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Выбор навыка</a:t>
            </a:r>
          </a:p>
        </p:txBody>
      </p:sp>
      <p:sp>
        <p:nvSpPr>
          <p:cNvPr id="9" name="Открываем шаги урока и подсказку по ракурсу.">
            <a:extLst xmlns:a="http://schemas.openxmlformats.org/drawingml/2006/main">
              <a:ext uri="{FF2B5EF4-FFF2-40B4-BE49-F238E27FC236}">
                <a16:creationId xmlns:a16="http://schemas.microsoft.com/office/drawing/2014/main" id="{DF72B14D-60EC-44C3-B043-B41EDF8D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52800"/>
            <a:ext cx="652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Открываем шаги урока и подсказку по ракурсу.</a:t>
            </a:r>
          </a:p>
        </p:txBody>
      </p:sp>
      <p:sp>
        <p:nvSpPr>
          <p:cNvPr id="10" name="3">
            <a:extLst xmlns:a="http://schemas.openxmlformats.org/drawingml/2006/main">
              <a:ext uri="{FF2B5EF4-FFF2-40B4-BE49-F238E27FC236}">
                <a16:creationId xmlns:a16="http://schemas.microsoft.com/office/drawing/2014/main" id="{467CE055-D235-4750-BE15-C1B51D4D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33825"/>
            <a:ext cx="523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Эфир с камерой">
            <a:extLst xmlns:a="http://schemas.openxmlformats.org/drawingml/2006/main">
              <a:ext uri="{FF2B5EF4-FFF2-40B4-BE49-F238E27FC236}">
                <a16:creationId xmlns:a16="http://schemas.microsoft.com/office/drawing/2014/main" id="{8CEA7C80-9E13-4071-95D1-B517192E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3382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Эфир с камерой</a:t>
            </a:r>
          </a:p>
        </p:txBody>
      </p:sp>
      <p:sp>
        <p:nvSpPr>
          <p:cNvPr id="12" name="Выполняем движение, видим счёт и подсказку.">
            <a:extLst xmlns:a="http://schemas.openxmlformats.org/drawingml/2006/main">
              <a:ext uri="{FF2B5EF4-FFF2-40B4-BE49-F238E27FC236}">
                <a16:creationId xmlns:a16="http://schemas.microsoft.com/office/drawing/2014/main" id="{00196725-F02F-48B3-B6DB-AC272A4E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652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Выполняем движение, видим счёт и подсказку.</a:t>
            </a:r>
          </a:p>
        </p:txBody>
      </p:sp>
      <p:sp>
        <p:nvSpPr>
          <p:cNvPr id="13" name="4">
            <a:extLst xmlns:a="http://schemas.openxmlformats.org/drawingml/2006/main">
              <a:ext uri="{FF2B5EF4-FFF2-40B4-BE49-F238E27FC236}">
                <a16:creationId xmlns:a16="http://schemas.microsoft.com/office/drawing/2014/main" id="{FCA6FEDA-4B10-477C-9FA6-6667071E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86325"/>
            <a:ext cx="523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Завершение">
            <a:extLst xmlns:a="http://schemas.openxmlformats.org/drawingml/2006/main">
              <a:ext uri="{FF2B5EF4-FFF2-40B4-BE49-F238E27FC236}">
                <a16:creationId xmlns:a16="http://schemas.microsoft.com/office/drawing/2014/main" id="{295383EA-48C5-43CD-85E6-0C0BBF7B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8632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Завершение</a:t>
            </a:r>
          </a:p>
        </p:txBody>
      </p:sp>
      <p:sp>
        <p:nvSpPr>
          <p:cNvPr id="15" name="Итог появляется в чате и локальной истории.">
            <a:extLst xmlns:a="http://schemas.openxmlformats.org/drawingml/2006/main">
              <a:ext uri="{FF2B5EF4-FFF2-40B4-BE49-F238E27FC236}">
                <a16:creationId xmlns:a16="http://schemas.microsoft.com/office/drawing/2014/main" id="{4EC383E5-0875-4B9D-BF7F-B4A64B2F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57800"/>
            <a:ext cx="652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Итог появляется в чате и локальной истории.</a:t>
            </a:r>
          </a:p>
        </p:txBody>
      </p:sp>
      <p:sp>
        <p:nvSpPr>
          <p:cNvPr id="16" name="Резерв на сцене: локальный видеофайл или явно обозначен">
            <a:extLst xmlns:a="http://schemas.openxmlformats.org/drawingml/2006/main">
              <a:ext uri="{FF2B5EF4-FFF2-40B4-BE49-F238E27FC236}">
                <a16:creationId xmlns:a16="http://schemas.microsoft.com/office/drawing/2014/main" id="{45B5D91D-0F9F-46D1-8ADE-815FDA9A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Резерв на сцене: локальный видеофайл или явно обозначенная симуляция.</a:t>
            </a:r>
          </a:p>
        </p:txBody>
      </p:sp>
      <p:sp>
        <p:nvSpPr>
          <p:cNvPr id="17" name="Aimo   /   Показ продукта   /   5 из 13">
            <a:extLst xmlns:a="http://schemas.openxmlformats.org/drawingml/2006/main">
              <a:ext uri="{FF2B5EF4-FFF2-40B4-BE49-F238E27FC236}">
                <a16:creationId xmlns:a16="http://schemas.microsoft.com/office/drawing/2014/main" id="{84FA0263-F95F-4E41-B428-F9951439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Показ продукта   /   5 из 13</a:t>
            </a:r>
          </a:p>
        </p:txBody>
      </p:sp>
    </p:spTree>
    <p:extLst>
      <p:ext uri="{BB962C8B-B14F-4D97-AF65-F5344CB8AC3E}">
        <p14:creationId xmlns:p14="http://schemas.microsoft.com/office/powerpoint/2010/main" val="9225755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819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ИИ В ПРОДУКТЕ">
            <a:extLst xmlns:a="http://schemas.openxmlformats.org/drawingml/2006/main">
              <a:ext uri="{FF2B5EF4-FFF2-40B4-BE49-F238E27FC236}">
                <a16:creationId xmlns:a16="http://schemas.microsoft.com/office/drawing/2014/main" id="{F5870CBD-0C77-4DC0-9CE9-6E3E83A6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69AA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AAFF"/>
                </a:solidFill>
                <a:latin typeface="Arial"/>
                <a:ea typeface="Arial"/>
                <a:cs typeface="Arial"/>
              </a:rPr>
              <a:t>ИИ В ПРОДУКТЕ</a:t>
            </a:r>
          </a:p>
        </p:txBody>
      </p:sp>
      <p:sp>
        <p:nvSpPr>
          <p:cNvPr id="2" name="Три уровня анализа на устройстве">
            <a:extLst xmlns:a="http://schemas.openxmlformats.org/drawingml/2006/main">
              <a:ext uri="{FF2B5EF4-FFF2-40B4-BE49-F238E27FC236}">
                <a16:creationId xmlns:a16="http://schemas.microsoft.com/office/drawing/2014/main" id="{750D108E-64AF-4707-8ED0-33910DA0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Три уровня анализа на устройстве</a:t>
            </a:r>
          </a:p>
        </p:txBody>
      </p:sp>
      <p:sp>
        <p:nvSpPr>
          <p:cNvPr id="3" name="Зрение">
            <a:extLst xmlns:a="http://schemas.openxmlformats.org/drawingml/2006/main">
              <a:ext uri="{FF2B5EF4-FFF2-40B4-BE49-F238E27FC236}">
                <a16:creationId xmlns:a16="http://schemas.microsoft.com/office/drawing/2014/main" id="{25B38DA1-2A82-4C03-934D-91F7424D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7170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Зрение</a:t>
            </a:r>
          </a:p>
        </p:txBody>
      </p:sp>
      <p:sp>
        <p:nvSpPr>
          <p:cNvPr id="4" name="MediaPipe находит позу и предметы. Для мяча учитывается">
            <a:extLst xmlns:a="http://schemas.openxmlformats.org/drawingml/2006/main">
              <a:ext uri="{FF2B5EF4-FFF2-40B4-BE49-F238E27FC236}">
                <a16:creationId xmlns:a16="http://schemas.microsoft.com/office/drawing/2014/main" id="{B9F3825D-0DC1-40AF-9AF1-2093083B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DD0D5"/>
                </a:solidFill>
                <a:latin typeface="Arial"/>
                <a:ea typeface="Arial"/>
                <a:cs typeface="Arial"/>
              </a:rPr>
              <a:t>MediaPipe находит позу и предметы. Для мяча учитывается только sports ball.</a:t>
            </a:r>
          </a:p>
        </p:txBody>
      </p:sp>
      <p:sp>
        <p:nvSpPr>
          <p:cNvPr id="5" name="Правила движения">
            <a:extLst xmlns:a="http://schemas.openxmlformats.org/drawingml/2006/main">
              <a:ext uri="{FF2B5EF4-FFF2-40B4-BE49-F238E27FC236}">
                <a16:creationId xmlns:a16="http://schemas.microsoft.com/office/drawing/2014/main" id="{EC13A784-E6A3-4F90-9E55-34F7C33D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Правила движения</a:t>
            </a:r>
          </a:p>
        </p:txBody>
      </p:sp>
      <p:sp>
        <p:nvSpPr>
          <p:cNvPr id="6" name="Калибровка под человека, цикл повтора и подтверждение о">
            <a:extLst xmlns:a="http://schemas.openxmlformats.org/drawingml/2006/main">
              <a:ext uri="{FF2B5EF4-FFF2-40B4-BE49-F238E27FC236}">
                <a16:creationId xmlns:a16="http://schemas.microsoft.com/office/drawing/2014/main" id="{19A6CB92-D38A-4C06-B794-627705C3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3845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DD0D5"/>
                </a:solidFill>
                <a:latin typeface="Arial"/>
                <a:ea typeface="Arial"/>
                <a:cs typeface="Arial"/>
              </a:rPr>
              <a:t>Калибровка под человека, цикл повтора и подтверждение ошибки. Здесь рождается счёт.</a:t>
            </a:r>
          </a:p>
        </p:txBody>
      </p:sp>
      <p:sp>
        <p:nvSpPr>
          <p:cNvPr id="7" name="Локальная LLM">
            <a:extLst xmlns:a="http://schemas.openxmlformats.org/drawingml/2006/main">
              <a:ext uri="{FF2B5EF4-FFF2-40B4-BE49-F238E27FC236}">
                <a16:creationId xmlns:a16="http://schemas.microsoft.com/office/drawing/2014/main" id="{E1151E49-55FF-459D-B216-4CFCB9A5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71700"/>
            <a:ext cx="32099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Локальная LLM</a:t>
            </a:r>
          </a:p>
        </p:txBody>
      </p:sp>
      <p:sp>
        <p:nvSpPr>
          <p:cNvPr id="8" name="WebLLM и Qwen получают текст и числовую сводку. Код про">
            <a:extLst xmlns:a="http://schemas.openxmlformats.org/drawingml/2006/main">
              <a:ext uri="{FF2B5EF4-FFF2-40B4-BE49-F238E27FC236}">
                <a16:creationId xmlns:a16="http://schemas.microsoft.com/office/drawing/2014/main" id="{04F65596-EB86-41EE-9554-6EEB1C78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38450"/>
            <a:ext cx="32099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DD0D5"/>
                </a:solidFill>
                <a:latin typeface="Arial"/>
                <a:ea typeface="Arial"/>
                <a:cs typeface="Arial"/>
              </a:rPr>
              <a:t>WebLLM и Qwen получают текст и числовую сводку. Код проверяет ответ и числа.</a:t>
            </a:r>
          </a:p>
        </p:txBody>
      </p:sp>
      <p:sp>
        <p:nvSpPr>
          <p:cNvPr id="9" name="Видео остаётся на устройстве. Для Qwen нужен WebGPU и с">
            <a:extLst xmlns:a="http://schemas.openxmlformats.org/drawingml/2006/main">
              <a:ext uri="{FF2B5EF4-FFF2-40B4-BE49-F238E27FC236}">
                <a16:creationId xmlns:a16="http://schemas.microsoft.com/office/drawing/2014/main" id="{B08537A3-3641-4E57-9E7F-3DA71CBC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Видео остаётся на устройстве. Для Qwen нужен WebGPU и скачанная модель.</a:t>
            </a:r>
          </a:p>
        </p:txBody>
      </p:sp>
      <p:sp>
        <p:nvSpPr>
          <p:cNvPr id="10" name="Голосовой вопрос: браузер может передавать аудио своему">
            <a:extLst xmlns:a="http://schemas.openxmlformats.org/drawingml/2006/main">
              <a:ext uri="{FF2B5EF4-FFF2-40B4-BE49-F238E27FC236}">
                <a16:creationId xmlns:a16="http://schemas.microsoft.com/office/drawing/2014/main" id="{2EC1A177-FB45-40E4-B6FE-FFA5EF88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CDD0D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DD0D5"/>
                </a:solidFill>
                <a:latin typeface="Arial"/>
                <a:ea typeface="Arial"/>
                <a:cs typeface="Arial"/>
              </a:rPr>
              <a:t>Голосовой вопрос: браузер может передавать аудио своему сервису распознавания.</a:t>
            </a:r>
          </a:p>
        </p:txBody>
      </p:sp>
      <p:sp>
        <p:nvSpPr>
          <p:cNvPr id="11" name="Aimo   /   Архитектура и данные   /   6 из 13">
            <a:extLst xmlns:a="http://schemas.openxmlformats.org/drawingml/2006/main">
              <a:ext uri="{FF2B5EF4-FFF2-40B4-BE49-F238E27FC236}">
                <a16:creationId xmlns:a16="http://schemas.microsoft.com/office/drawing/2014/main" id="{33F11153-1550-4541-97B8-DDD319CB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5B8B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5B8BE"/>
                </a:solidFill>
                <a:latin typeface="Arial"/>
                <a:ea typeface="Arial"/>
                <a:cs typeface="Arial"/>
              </a:rPr>
              <a:t>Aimo   /   Архитектура и данные   /   6 из 13</a:t>
            </a:r>
          </a:p>
        </p:txBody>
      </p:sp>
    </p:spTree>
    <p:extLst>
      <p:ext uri="{BB962C8B-B14F-4D97-AF65-F5344CB8AC3E}">
        <p14:creationId xmlns:p14="http://schemas.microsoft.com/office/powerpoint/2010/main" val="13932189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FF1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РАБОТОСПОСОБНОСТЬ 20%">
            <a:extLst xmlns:a="http://schemas.openxmlformats.org/drawingml/2006/main">
              <a:ext uri="{FF2B5EF4-FFF2-40B4-BE49-F238E27FC236}">
                <a16:creationId xmlns:a16="http://schemas.microsoft.com/office/drawing/2014/main" id="{A0B3D01F-1C10-486F-948A-9052F9C8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РАБОТОСПОСОБНОСТЬ 20%</a:t>
            </a:r>
          </a:p>
        </p:txBody>
      </p:sp>
      <p:sp>
        <p:nvSpPr>
          <p:cNvPr id="2" name="Проверки и результаты итераций">
            <a:extLst xmlns:a="http://schemas.openxmlformats.org/drawingml/2006/main">
              <a:ext uri="{FF2B5EF4-FFF2-40B4-BE49-F238E27FC236}">
                <a16:creationId xmlns:a16="http://schemas.microsoft.com/office/drawing/2014/main" id="{0AE03C12-C9B6-41D1-8D54-7B51246E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Проверки и результаты итераций</a:t>
            </a:r>
          </a:p>
        </p:txBody>
      </p:sp>
      <p:sp>
        <p:nvSpPr>
          <p:cNvPr id="3" name="187">
            <a:extLst xmlns:a="http://schemas.openxmlformats.org/drawingml/2006/main">
              <a:ext uri="{FF2B5EF4-FFF2-40B4-BE49-F238E27FC236}">
                <a16:creationId xmlns:a16="http://schemas.microsoft.com/office/drawing/2014/main" id="{918989BC-14AA-4207-84DE-B3CE6B78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187</a:t>
            </a:r>
          </a:p>
        </p:txBody>
      </p:sp>
      <p:sp>
        <p:nvSpPr>
          <p:cNvPr id="4" name="автотестов проходят">
            <a:extLst xmlns:a="http://schemas.openxmlformats.org/drawingml/2006/main">
              <a:ext uri="{FF2B5EF4-FFF2-40B4-BE49-F238E27FC236}">
                <a16:creationId xmlns:a16="http://schemas.microsoft.com/office/drawing/2014/main" id="{C8DEE63F-AD70-43D8-AD4D-0B23AC34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автотестов проходят</a:t>
            </a:r>
          </a:p>
        </p:txBody>
      </p:sp>
      <p:sp>
        <p:nvSpPr>
          <p:cNvPr id="5" name="8">
            <a:extLst xmlns:a="http://schemas.openxmlformats.org/drawingml/2006/main">
              <a:ext uri="{FF2B5EF4-FFF2-40B4-BE49-F238E27FC236}">
                <a16:creationId xmlns:a16="http://schemas.microsoft.com/office/drawing/2014/main" id="{C91C43EC-963B-463B-A496-F616DD32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навыков в каталоге">
            <a:extLst xmlns:a="http://schemas.openxmlformats.org/drawingml/2006/main">
              <a:ext uri="{FF2B5EF4-FFF2-40B4-BE49-F238E27FC236}">
                <a16:creationId xmlns:a16="http://schemas.microsoft.com/office/drawing/2014/main" id="{81F8DA87-B616-47AB-BC0D-CAAA39EE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860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навыков в каталоге</a:t>
            </a:r>
          </a:p>
        </p:txBody>
      </p:sp>
      <p:sp>
        <p:nvSpPr>
          <p:cNvPr id="7" name="28">
            <a:extLst xmlns:a="http://schemas.openxmlformats.org/drawingml/2006/main">
              <a:ext uri="{FF2B5EF4-FFF2-40B4-BE49-F238E27FC236}">
                <a16:creationId xmlns:a16="http://schemas.microsoft.com/office/drawing/2014/main" id="{FCE79CC6-8C48-4B73-916E-F294D983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8" name="шагов уроков">
            <a:extLst xmlns:a="http://schemas.openxmlformats.org/drawingml/2006/main">
              <a:ext uri="{FF2B5EF4-FFF2-40B4-BE49-F238E27FC236}">
                <a16:creationId xmlns:a16="http://schemas.microsoft.com/office/drawing/2014/main" id="{49127643-7BF8-4AC0-AA5C-7C453920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860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шагов уроков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5910C-D238-40BE-9444-7E237CD239F7}"/>
              </a:ext>
            </a:extLst>
          </p:cNvPr>
          <p:cNvGraphicFramePr/>
          <p:nvPr/>
        </p:nvGraphicFramePr>
        <p:xfrm>
          <a:off xmlns:a="http://schemas.openxmlformats.org/drawingml/2006/main" x="762000" y="3667125"/>
          <a:ext xmlns:a="http://schemas.openxmlformats.org/drawingml/2006/main" cx="10668000" cy="1905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048500"/>
                <a:gridCol w="1809750"/>
                <a:gridCol w="1809750"/>
              </a:tblGrid>
              <a:tr h="476250"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Замечания за 2 минуты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До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После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</a:tr>
              <a:tr h="47625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Приседания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29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Чеканка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35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Баланс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Одинаковые синтетические кадры. Сравнение частоты подск">
            <a:extLst xmlns:a="http://schemas.openxmlformats.org/drawingml/2006/main">
              <a:ext uri="{FF2B5EF4-FFF2-40B4-BE49-F238E27FC236}">
                <a16:creationId xmlns:a16="http://schemas.microsoft.com/office/drawing/2014/main" id="{6061AB46-E15C-4AEC-9A0E-54FCF7DC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Одинаковые синтетические кадры. Сравнение частоты подсказок, а не точности распознавания.</a:t>
            </a:r>
          </a:p>
        </p:txBody>
      </p:sp>
      <p:sp>
        <p:nvSpPr>
          <p:cNvPr id="11" name="Aimo   /   Подтверждённые цифры   /   7 из 13">
            <a:extLst xmlns:a="http://schemas.openxmlformats.org/drawingml/2006/main">
              <a:ext uri="{FF2B5EF4-FFF2-40B4-BE49-F238E27FC236}">
                <a16:creationId xmlns:a16="http://schemas.microsoft.com/office/drawing/2014/main" id="{03131658-CC42-4591-9581-828837BC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Подтверждённые цифры   /   7 из 13</a:t>
            </a:r>
          </a:p>
        </p:txBody>
      </p:sp>
    </p:spTree>
    <p:extLst>
      <p:ext uri="{BB962C8B-B14F-4D97-AF65-F5344CB8AC3E}">
        <p14:creationId xmlns:p14="http://schemas.microsoft.com/office/powerpoint/2010/main" val="1833172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РАБОТА В КОМАНДЕ 10%">
            <a:extLst xmlns:a="http://schemas.openxmlformats.org/drawingml/2006/main">
              <a:ext uri="{FF2B5EF4-FFF2-40B4-BE49-F238E27FC236}">
                <a16:creationId xmlns:a16="http://schemas.microsoft.com/office/drawing/2014/main" id="{A6F382C6-9E5A-4CFF-AC41-5A8D16B0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РАБОТА В КОМАНДЕ 10%</a:t>
            </a:r>
          </a:p>
        </p:txBody>
      </p:sp>
      <p:sp>
        <p:nvSpPr>
          <p:cNvPr id="2" name="Два участника и общее принятие решений">
            <a:extLst xmlns:a="http://schemas.openxmlformats.org/drawingml/2006/main">
              <a:ext uri="{FF2B5EF4-FFF2-40B4-BE49-F238E27FC236}">
                <a16:creationId xmlns:a16="http://schemas.microsoft.com/office/drawing/2014/main" id="{881E9864-9CFB-4A63-9960-6D033C71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Два участника и общее принятие решений</a:t>
            </a:r>
          </a:p>
        </p:txBody>
      </p:sp>
      <p:sp>
        <p:nvSpPr>
          <p:cNvPr id="3" name="Максим">
            <a:extLst xmlns:a="http://schemas.openxmlformats.org/drawingml/2006/main">
              <a:ext uri="{FF2B5EF4-FFF2-40B4-BE49-F238E27FC236}">
                <a16:creationId xmlns:a16="http://schemas.microsoft.com/office/drawing/2014/main" id="{71E32664-2C02-4212-BEC7-ADE36D34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Максим</a:t>
            </a:r>
          </a:p>
        </p:txBody>
      </p:sp>
      <p:sp>
        <p:nvSpPr>
          <p:cNvPr id="4" name="Интеграция приложения и агентов Claude Code. Камера, эф">
            <a:extLst xmlns:a="http://schemas.openxmlformats.org/drawingml/2006/main">
              <a:ext uri="{FF2B5EF4-FFF2-40B4-BE49-F238E27FC236}">
                <a16:creationId xmlns:a16="http://schemas.microsoft.com/office/drawing/2014/main" id="{C2AB468C-9762-4713-A9F9-E5C0CE1E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49053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Интеграция приложения и агентов Claude Code. Камера, эфир, чат и проверки. Записи тестирования с iPhone.</a:t>
            </a:r>
          </a:p>
        </p:txBody>
      </p:sp>
      <p:sp>
        <p:nvSpPr>
          <p:cNvPr id="5" name="Наран">
            <a:extLst xmlns:a="http://schemas.openxmlformats.org/drawingml/2006/main">
              <a:ext uri="{FF2B5EF4-FFF2-40B4-BE49-F238E27FC236}">
                <a16:creationId xmlns:a16="http://schemas.microsoft.com/office/drawing/2014/main" id="{C1A1994F-B09C-4A3A-B614-3E080B16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0955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Наран</a:t>
            </a:r>
          </a:p>
        </p:txBody>
      </p:sp>
      <p:sp>
        <p:nvSpPr>
          <p:cNvPr id="6" name="Публикация сайта, интерфейс и голоса. Проверка на iPhon">
            <a:extLst xmlns:a="http://schemas.openxmlformats.org/drawingml/2006/main">
              <a:ext uri="{FF2B5EF4-FFF2-40B4-BE49-F238E27FC236}">
                <a16:creationId xmlns:a16="http://schemas.microsoft.com/office/drawing/2014/main" id="{2B3B6F9F-A359-4907-9C58-401A808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62250"/>
            <a:ext cx="49053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Публикация сайта, интерфейс и голоса. Проверка на iPhone и обратная связь по экранам и управлению.</a:t>
            </a:r>
          </a:p>
        </p:txBody>
      </p:sp>
      <p:sp>
        <p:nvSpPr>
          <p:cNvPr id="7" name="Согласование при объединении">
            <a:extLst xmlns:a="http://schemas.openxmlformats.org/drawingml/2006/main">
              <a:ext uri="{FF2B5EF4-FFF2-40B4-BE49-F238E27FC236}">
                <a16:creationId xmlns:a16="http://schemas.microsoft.com/office/drawing/2014/main" id="{D4E21E04-FB43-48D5-B4A4-69E3DCBD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Согласование при объединении</a:t>
            </a:r>
          </a:p>
        </p:txBody>
      </p:sp>
      <p:sp>
        <p:nvSpPr>
          <p:cNvPr id="8" name="Сохранили детектор предметов и настройки голосов, совме">
            <a:extLst xmlns:a="http://schemas.openxmlformats.org/drawingml/2006/main">
              <a:ext uri="{FF2B5EF4-FFF2-40B4-BE49-F238E27FC236}">
                <a16:creationId xmlns:a16="http://schemas.microsoft.com/office/drawing/2014/main" id="{33A25026-A5A1-4564-BB60-39CDFE89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768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Сохранили детектор предметов и настройки голосов, совместили их с проверкой движений и управлением камерой.</a:t>
            </a:r>
          </a:p>
        </p:txBody>
      </p:sp>
      <p:sp>
        <p:nvSpPr>
          <p:cNvPr id="9" name="Aimo   /   Вклад людей   /   8 из 13">
            <a:extLst xmlns:a="http://schemas.openxmlformats.org/drawingml/2006/main">
              <a:ext uri="{FF2B5EF4-FFF2-40B4-BE49-F238E27FC236}">
                <a16:creationId xmlns:a16="http://schemas.microsoft.com/office/drawing/2014/main" id="{32F48EDF-7680-43E8-A74C-E9EFA4FE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Вклад людей   /   8 из 13</a:t>
            </a:r>
          </a:p>
        </p:txBody>
      </p:sp>
    </p:spTree>
    <p:extLst>
      <p:ext uri="{BB962C8B-B14F-4D97-AF65-F5344CB8AC3E}">
        <p14:creationId xmlns:p14="http://schemas.microsoft.com/office/powerpoint/2010/main" val="1814964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FF1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ИСПОЛЬЗОВАНИЕ ИИ 10%">
            <a:extLst xmlns:a="http://schemas.openxmlformats.org/drawingml/2006/main">
              <a:ext uri="{FF2B5EF4-FFF2-40B4-BE49-F238E27FC236}">
                <a16:creationId xmlns:a16="http://schemas.microsoft.com/office/drawing/2014/main" id="{61923190-1288-40C0-AF06-7EFB2DD7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ИСПОЛЬЗОВАНИЕ ИИ 10%</a:t>
            </a:r>
          </a:p>
        </p:txBody>
      </p:sp>
      <p:sp>
        <p:nvSpPr>
          <p:cNvPr id="2" name="ИИ в разработке: задача, код, проверка">
            <a:extLst xmlns:a="http://schemas.openxmlformats.org/drawingml/2006/main">
              <a:ext uri="{FF2B5EF4-FFF2-40B4-BE49-F238E27FC236}">
                <a16:creationId xmlns:a16="http://schemas.microsoft.com/office/drawing/2014/main" id="{673C5501-095B-4B0E-8057-6F5B8626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ИИ в разработке: задача, код, проверка</a:t>
            </a:r>
          </a:p>
        </p:txBody>
      </p:sp>
      <p:sp>
        <p:nvSpPr>
          <p:cNvPr id="3" name="Постановка">
            <a:extLst xmlns:a="http://schemas.openxmlformats.org/drawingml/2006/main">
              <a:ext uri="{FF2B5EF4-FFF2-40B4-BE49-F238E27FC236}">
                <a16:creationId xmlns:a16="http://schemas.microsoft.com/office/drawing/2014/main" id="{332E24EC-D0B7-4784-9872-A1F20A36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2428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Постановка</a:t>
            </a:r>
          </a:p>
        </p:txBody>
      </p:sp>
      <p:sp>
        <p:nvSpPr>
          <p:cNvPr id="4" name="Люди задают сценарий, присылают запись экрана и формули">
            <a:extLst xmlns:a="http://schemas.openxmlformats.org/drawingml/2006/main">
              <a:ext uri="{FF2B5EF4-FFF2-40B4-BE49-F238E27FC236}">
                <a16:creationId xmlns:a16="http://schemas.microsoft.com/office/drawing/2014/main" id="{DA83D082-553E-4BAD-8368-9085115F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057400"/>
            <a:ext cx="7953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Люди задают сценарий, присылают запись экрана и формулируют дефект.</a:t>
            </a:r>
          </a:p>
        </p:txBody>
      </p:sp>
      <p:sp>
        <p:nvSpPr>
          <p:cNvPr id="5" name="Разделение">
            <a:extLst xmlns:a="http://schemas.openxmlformats.org/drawingml/2006/main">
              <a:ext uri="{FF2B5EF4-FFF2-40B4-BE49-F238E27FC236}">
                <a16:creationId xmlns:a16="http://schemas.microsoft.com/office/drawing/2014/main" id="{4A643903-EFEA-4D1D-9CA7-DCB7C21C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428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Разделение</a:t>
            </a:r>
          </a:p>
        </p:txBody>
      </p:sp>
      <p:sp>
        <p:nvSpPr>
          <p:cNvPr id="6" name="Агенты frontend, vision, coach-llm и root работают по к">
            <a:extLst xmlns:a="http://schemas.openxmlformats.org/drawingml/2006/main">
              <a:ext uri="{FF2B5EF4-FFF2-40B4-BE49-F238E27FC236}">
                <a16:creationId xmlns:a16="http://schemas.microsoft.com/office/drawing/2014/main" id="{6DE0FA2D-E388-4D39-8164-7809F745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09900"/>
            <a:ext cx="7953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Агенты frontend, vision, coach-llm и root работают по контрактам файлов.</a:t>
            </a:r>
          </a:p>
        </p:txBody>
      </p:sp>
      <p:sp>
        <p:nvSpPr>
          <p:cNvPr id="7" name="Реализация">
            <a:extLst xmlns:a="http://schemas.openxmlformats.org/drawingml/2006/main">
              <a:ext uri="{FF2B5EF4-FFF2-40B4-BE49-F238E27FC236}">
                <a16:creationId xmlns:a16="http://schemas.microsoft.com/office/drawing/2014/main" id="{67940E82-4536-493B-AD5A-01750436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62400"/>
            <a:ext cx="2428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Реализация</a:t>
            </a:r>
          </a:p>
        </p:txBody>
      </p:sp>
      <p:sp>
        <p:nvSpPr>
          <p:cNvPr id="8" name="Агенты пишут код и тесты. API MediaPipe и WebLLM сверяю">
            <a:extLst xmlns:a="http://schemas.openxmlformats.org/drawingml/2006/main">
              <a:ext uri="{FF2B5EF4-FFF2-40B4-BE49-F238E27FC236}">
                <a16:creationId xmlns:a16="http://schemas.microsoft.com/office/drawing/2014/main" id="{FFA838F6-6A62-41A8-8AF4-A93A25DE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62400"/>
            <a:ext cx="7953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Агенты пишут код и тесты. API MediaPipe и WebLLM сверяют через Context7.</a:t>
            </a:r>
          </a:p>
        </p:txBody>
      </p:sp>
      <p:sp>
        <p:nvSpPr>
          <p:cNvPr id="9" name="Приёмка">
            <a:extLst xmlns:a="http://schemas.openxmlformats.org/drawingml/2006/main">
              <a:ext uri="{FF2B5EF4-FFF2-40B4-BE49-F238E27FC236}">
                <a16:creationId xmlns:a16="http://schemas.microsoft.com/office/drawing/2014/main" id="{C43E2470-EB8C-48D4-882A-91BDE20A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2428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Приёмка</a:t>
            </a:r>
          </a:p>
        </p:txBody>
      </p:sp>
      <p:sp>
        <p:nvSpPr>
          <p:cNvPr id="10" name="Тесты и Chrome проверяют изменение. Люди принимают резу">
            <a:extLst xmlns:a="http://schemas.openxmlformats.org/drawingml/2006/main">
              <a:ext uri="{FF2B5EF4-FFF2-40B4-BE49-F238E27FC236}">
                <a16:creationId xmlns:a16="http://schemas.microsoft.com/office/drawing/2014/main" id="{C484787B-FAFA-465A-94FF-5FFB52D7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914900"/>
            <a:ext cx="7953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Тесты и Chrome проверяют изменение. Люди принимают результат и выпускают версию.</a:t>
            </a:r>
          </a:p>
        </p:txBody>
      </p:sp>
      <p:sp>
        <p:nvSpPr>
          <p:cNvPr id="11" name="Aimo   /   Пайплайн разработки   /   9 из 13">
            <a:extLst xmlns:a="http://schemas.openxmlformats.org/drawingml/2006/main">
              <a:ext uri="{FF2B5EF4-FFF2-40B4-BE49-F238E27FC236}">
                <a16:creationId xmlns:a16="http://schemas.microsoft.com/office/drawing/2014/main" id="{2E9E69AE-DF24-4F37-86B2-A3E7029F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Пайплайн разработки   /   9 из 13</a:t>
            </a:r>
          </a:p>
        </p:txBody>
      </p:sp>
    </p:spTree>
    <p:extLst>
      <p:ext uri="{BB962C8B-B14F-4D97-AF65-F5344CB8AC3E}">
        <p14:creationId xmlns:p14="http://schemas.microsoft.com/office/powerpoint/2010/main" val="2217067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ВЫВОДЫ РАЗРАБОТКИ">
            <a:extLst xmlns:a="http://schemas.openxmlformats.org/drawingml/2006/main">
              <a:ext uri="{FF2B5EF4-FFF2-40B4-BE49-F238E27FC236}">
                <a16:creationId xmlns:a16="http://schemas.microsoft.com/office/drawing/2014/main" id="{A4501847-E5CD-49F9-9AA5-8543A82D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ВЫВОДЫ РАЗРАБОТКИ</a:t>
            </a:r>
          </a:p>
        </p:txBody>
      </p:sp>
      <p:sp>
        <p:nvSpPr>
          <p:cNvPr id="2" name="Саморефлексия команды">
            <a:extLst xmlns:a="http://schemas.openxmlformats.org/drawingml/2006/main">
              <a:ext uri="{FF2B5EF4-FFF2-40B4-BE49-F238E27FC236}">
                <a16:creationId xmlns:a16="http://schemas.microsoft.com/office/drawing/2014/main" id="{35ACAFE3-7BC6-420B-B85F-F102BA21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Саморефлексия команды</a:t>
            </a:r>
          </a:p>
        </p:txBody>
      </p:sp>
      <p:sp>
        <p:nvSpPr>
          <p:cNvPr id="3" name="Что сработало">
            <a:extLst xmlns:a="http://schemas.openxmlformats.org/drawingml/2006/main">
              <a:ext uri="{FF2B5EF4-FFF2-40B4-BE49-F238E27FC236}">
                <a16:creationId xmlns:a16="http://schemas.microsoft.com/office/drawing/2014/main" id="{5B41894B-4F9A-4565-9737-ADEAA730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Что сработало</a:t>
            </a:r>
          </a:p>
        </p:txBody>
      </p:sp>
      <p:sp>
        <p:nvSpPr>
          <p:cNvPr id="4" name="Разделили измерение и генерацию речи. Правила определяю">
            <a:extLst xmlns:a="http://schemas.openxmlformats.org/drawingml/2006/main">
              <a:ext uri="{FF2B5EF4-FFF2-40B4-BE49-F238E27FC236}">
                <a16:creationId xmlns:a16="http://schemas.microsoft.com/office/drawing/2014/main" id="{7717A6CF-C4E7-418C-9B5D-6EB9F0F4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0350"/>
            <a:ext cx="49053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Разделили измерение и генерацию речи. Правила определяют результат, LLM делает ответ естественнее.</a:t>
            </a:r>
          </a:p>
        </p:txBody>
      </p:sp>
      <p:sp>
        <p:nvSpPr>
          <p:cNvPr id="5" name="Что недооценили">
            <a:extLst xmlns:a="http://schemas.openxmlformats.org/drawingml/2006/main">
              <a:ext uri="{FF2B5EF4-FFF2-40B4-BE49-F238E27FC236}">
                <a16:creationId xmlns:a16="http://schemas.microsoft.com/office/drawing/2014/main" id="{BA133373-6914-48A5-928F-130997F5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1336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Что недооценили</a:t>
            </a:r>
          </a:p>
        </p:txBody>
      </p:sp>
      <p:sp>
        <p:nvSpPr>
          <p:cNvPr id="6" name="Камера, клавиатура и кеш на телефоне потребовали нескол">
            <a:extLst xmlns:a="http://schemas.openxmlformats.org/drawingml/2006/main">
              <a:ext uri="{FF2B5EF4-FFF2-40B4-BE49-F238E27FC236}">
                <a16:creationId xmlns:a16="http://schemas.microsoft.com/office/drawing/2014/main" id="{D85256FA-3AC4-433F-9A61-7C7C34F9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00350"/>
            <a:ext cx="49053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Камера, клавиатура и кеш на телефоне потребовали нескольких итераций. Демо не выявляет все ошибки реального видео.</a:t>
            </a:r>
          </a:p>
        </p:txBody>
      </p:sp>
      <p:sp>
        <p:nvSpPr>
          <p:cNvPr id="7" name="Главный вывод">
            <a:extLst xmlns:a="http://schemas.openxmlformats.org/drawingml/2006/main">
              <a:ext uri="{FF2B5EF4-FFF2-40B4-BE49-F238E27FC236}">
                <a16:creationId xmlns:a16="http://schemas.microsoft.com/office/drawing/2014/main" id="{F98F5903-CDC3-436A-A261-2B588C2C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Главный вывод</a:t>
            </a:r>
          </a:p>
        </p:txBody>
      </p:sp>
      <p:sp>
        <p:nvSpPr>
          <p:cNvPr id="8" name="В следующей итерации начнём с одного навыка на реальных">
            <a:extLst xmlns:a="http://schemas.openxmlformats.org/drawingml/2006/main">
              <a:ext uri="{FF2B5EF4-FFF2-40B4-BE49-F238E27FC236}">
                <a16:creationId xmlns:a16="http://schemas.microsoft.com/office/drawing/2014/main" id="{ABEB1E12-8F2D-4802-8D5A-809FBFFE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006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В следующей итерации начнём с одного навыка на реальных телефонах. Расширять каталог будем после сравнения счёта с ручной разметкой.</a:t>
            </a:r>
          </a:p>
        </p:txBody>
      </p:sp>
      <p:sp>
        <p:nvSpPr>
          <p:cNvPr id="9" name="Aimo   /   Что поняли и изменим   /   10 из 13">
            <a:extLst xmlns:a="http://schemas.openxmlformats.org/drawingml/2006/main">
              <a:ext uri="{FF2B5EF4-FFF2-40B4-BE49-F238E27FC236}">
                <a16:creationId xmlns:a16="http://schemas.microsoft.com/office/drawing/2014/main" id="{73D3B44B-037D-40C8-9AC8-99DD9DF5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Что поняли и изменим   /   10 из 13</a:t>
            </a:r>
          </a:p>
        </p:txBody>
      </p:sp>
    </p:spTree>
    <p:extLst>
      <p:ext uri="{BB962C8B-B14F-4D97-AF65-F5344CB8AC3E}">
        <p14:creationId xmlns:p14="http://schemas.microsoft.com/office/powerpoint/2010/main" val="5640837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FF1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ОЛЬЗА И ГРАНИЦЫ ПРОТОТИПА">
            <a:extLst xmlns:a="http://schemas.openxmlformats.org/drawingml/2006/main">
              <a:ext uri="{FF2B5EF4-FFF2-40B4-BE49-F238E27FC236}">
                <a16:creationId xmlns:a16="http://schemas.microsoft.com/office/drawing/2014/main" id="{E28A92CB-E04C-4AF9-A8D7-BB034DAD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ПОЛЬЗА И ГРАНИЦЫ ПРОТОТИПА</a:t>
            </a:r>
          </a:p>
        </p:txBody>
      </p:sp>
      <p:sp>
        <p:nvSpPr>
          <p:cNvPr id="2" name="Следующая итерация: проверка с новичками">
            <a:extLst xmlns:a="http://schemas.openxmlformats.org/drawingml/2006/main">
              <a:ext uri="{FF2B5EF4-FFF2-40B4-BE49-F238E27FC236}">
                <a16:creationId xmlns:a16="http://schemas.microsoft.com/office/drawing/2014/main" id="{AA7C2F52-47EF-4033-920A-3313869D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Следующая итерация: проверка с новичками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9EEFD-F27D-42B9-A330-AC4C05F013F5}"/>
              </a:ext>
            </a:extLst>
          </p:cNvPr>
          <p:cNvGraphicFramePr/>
          <p:nvPr/>
        </p:nvGraphicFramePr>
        <p:xfrm>
          <a:off xmlns:a="http://schemas.openxmlformats.org/drawingml/2006/main" x="762000" y="2076450"/>
          <a:ext xmlns:a="http://schemas.openxmlformats.org/drawingml/2006/main" cx="106680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67125"/>
                <a:gridCol w="7000875"/>
              </a:tblGrid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Что проверим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Как поймём результат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Счёт на iPhone и Android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Сравним с ручным счётом на одних и тех же записях.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Работа в реальном кадре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Зафиксируем свет, ракурс, потерю тела и частоту анализа.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Понятность урока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Предложим 3–5 новичкам пройти занятие без подсказок команды.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Камера и голос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Проверим смену камеры, возврат из фона и задержку речи.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Это план проверки. Метрики точности и пользовательской ">
            <a:extLst xmlns:a="http://schemas.openxmlformats.org/drawingml/2006/main">
              <a:ext uri="{FF2B5EF4-FFF2-40B4-BE49-F238E27FC236}">
                <a16:creationId xmlns:a16="http://schemas.microsoft.com/office/drawing/2014/main" id="{6F34C575-7151-415B-BE01-8D61D02B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293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Это план проверки. Метрики точности и пользовательской пользы ещё не получены.</a:t>
            </a:r>
          </a:p>
        </p:txBody>
      </p:sp>
      <p:sp>
        <p:nvSpPr>
          <p:cNvPr id="5" name="Aimo   /   План и ограничения   /   11 из 13">
            <a:extLst xmlns:a="http://schemas.openxmlformats.org/drawingml/2006/main">
              <a:ext uri="{FF2B5EF4-FFF2-40B4-BE49-F238E27FC236}">
                <a16:creationId xmlns:a16="http://schemas.microsoft.com/office/drawing/2014/main" id="{6D4C5579-4D4B-472E-A70E-26F5E3EF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План и ограничения   /   11 из 13</a:t>
            </a:r>
          </a:p>
        </p:txBody>
      </p:sp>
    </p:spTree>
    <p:extLst>
      <p:ext uri="{BB962C8B-B14F-4D97-AF65-F5344CB8AC3E}">
        <p14:creationId xmlns:p14="http://schemas.microsoft.com/office/powerpoint/2010/main" val="5246219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66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imo">
            <a:extLst xmlns:a="http://schemas.openxmlformats.org/drawingml/2006/main">
              <a:ext uri="{FF2B5EF4-FFF2-40B4-BE49-F238E27FC236}">
                <a16:creationId xmlns:a16="http://schemas.microsoft.com/office/drawing/2014/main" id="{E765BB71-B22A-41A7-B712-B652A697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"/>
            <a:ext cx="8096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aimo</a:t>
            </a:r>
          </a:p>
        </p:txBody>
      </p:sp>
      <p:sp>
        <p:nvSpPr>
          <p:cNvPr id="2" name="Тренировка начинается&#10;с понятного следующего шага">
            <a:extLst xmlns:a="http://schemas.openxmlformats.org/drawingml/2006/main">
              <a:ext uri="{FF2B5EF4-FFF2-40B4-BE49-F238E27FC236}">
                <a16:creationId xmlns:a16="http://schemas.microsoft.com/office/drawing/2014/main" id="{7B10740A-888D-4D89-A7C7-A9DDDA8E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Тренировка начинается</a:t>
            </a:r>
          </a:p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 понятного следующего шага</a:t>
            </a:r>
          </a:p>
        </p:txBody>
      </p:sp>
      <p:sp>
        <p:nvSpPr>
          <p:cNvPr id="3" name="Рабочее приложение">
            <a:extLst xmlns:a="http://schemas.openxmlformats.org/drawingml/2006/main">
              <a:ext uri="{FF2B5EF4-FFF2-40B4-BE49-F238E27FC236}">
                <a16:creationId xmlns:a16="http://schemas.microsoft.com/office/drawing/2014/main" id="{EE1386D6-4AB8-46A9-9F06-59CAA821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Рабочее приложение</a:t>
            </a:r>
          </a:p>
        </p:txBody>
      </p:sp>
      <p:sp>
        <p:nvSpPr>
          <p:cNvPr id="4" name="https://nomad-dreamteam.github.io/Aimo/">
            <a:extLst xmlns:a="http://schemas.openxmlformats.org/drawingml/2006/main">
              <a:ext uri="{FF2B5EF4-FFF2-40B4-BE49-F238E27FC236}">
                <a16:creationId xmlns:a16="http://schemas.microsoft.com/office/drawing/2014/main" id="{099BF705-80EE-42DF-A283-58452677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>
                <a:hlinkClick xmlns:r="http://schemas.openxmlformats.org/officeDocument/2006/relationships" r:id="Rbc197438798947b5"/>
              </a:rPr>
              <a:t>https://nomad-dreamteam.github.io/Aimo/</a:t>
            </a:r>
          </a:p>
        </p:txBody>
      </p:sp>
      <p:sp>
        <p:nvSpPr>
          <p:cNvPr id="5" name="Исходный код и релиз: github.com/noMad-dreamteam/Aimo">
            <a:extLst xmlns:a="http://schemas.openxmlformats.org/drawingml/2006/main">
              <a:ext uri="{FF2B5EF4-FFF2-40B4-BE49-F238E27FC236}">
                <a16:creationId xmlns:a16="http://schemas.microsoft.com/office/drawing/2014/main" id="{0F43215F-AD11-486D-B91B-A8F92066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245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>
                <a:hlinkClick xmlns:r="http://schemas.openxmlformats.org/officeDocument/2006/relationships" r:id="R8a27664481694afb"/>
              </a:rPr>
              <a:t>Исходный код и релиз: github.com/noMad-dreamteam/Aimo</a:t>
            </a:r>
          </a:p>
        </p:txBody>
      </p:sp>
    </p:spTree>
    <p:extLst>
      <p:ext uri="{BB962C8B-B14F-4D97-AF65-F5344CB8AC3E}">
        <p14:creationId xmlns:p14="http://schemas.microsoft.com/office/powerpoint/2010/main" val="3029850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СПРАВОЧНЫЙ СЛАЙД">
            <a:extLst xmlns:a="http://schemas.openxmlformats.org/drawingml/2006/main">
              <a:ext uri="{FF2B5EF4-FFF2-40B4-BE49-F238E27FC236}">
                <a16:creationId xmlns:a16="http://schemas.microsoft.com/office/drawing/2014/main" id="{E0174BB7-CED7-496D-8F4E-AE88FC50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0866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66FF"/>
                </a:solidFill>
                <a:latin typeface="Arial"/>
                <a:ea typeface="Arial"/>
                <a:cs typeface="Arial"/>
              </a:rPr>
              <a:t>СПРАВОЧНЫЙ СЛАЙД</a:t>
            </a:r>
          </a:p>
        </p:txBody>
      </p:sp>
      <p:sp>
        <p:nvSpPr>
          <p:cNvPr id="2" name="Соответствие критериям жюри">
            <a:extLst xmlns:a="http://schemas.openxmlformats.org/drawingml/2006/main">
              <a:ext uri="{FF2B5EF4-FFF2-40B4-BE49-F238E27FC236}">
                <a16:creationId xmlns:a16="http://schemas.microsoft.com/office/drawing/2014/main" id="{75EB70E6-385A-4945-85B9-3A62031B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Соответствие критериям жюри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F620E-FD5A-4488-999B-CC321D556883}"/>
              </a:ext>
            </a:extLst>
          </p:cNvPr>
          <p:cNvGraphicFramePr/>
          <p:nvPr/>
        </p:nvGraphicFramePr>
        <p:xfrm>
          <a:off xmlns:a="http://schemas.openxmlformats.org/drawingml/2006/main" x="762000" y="2019300"/>
          <a:ext xmlns:a="http://schemas.openxmlformats.org/drawingml/2006/main" cx="106680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952500"/>
                <a:gridCol w="6953250"/>
              </a:tblGrid>
              <a:tr h="564696"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Критерий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Вес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Что показываем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T w="9525">
                      <a:solidFill>
                        <a:srgbClr val="D4D8DE"/>
                      </a:solidFill>
                      <a:prstDash val="solid"/>
                    </a:lnT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E7F0FF"/>
                    </a:solidFill>
                  </a:tcPr>
                </a:tc>
              </a:tr>
              <a:tr h="564696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Оригинальность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25%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Урок по наблюдениям, эфир и диалог (слайд 3).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4696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Польза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20%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Проблема новичка и план проверки гипотезы (2, 11).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4696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Работоспособность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20%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Сценарий демонстрации и 187 тестов (5, 7).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4696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Качество исполнения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Реальные экраны, голос, проверки и ограничения (4, 6, 7).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4696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Работа в команде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10%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Вклад Максима и Нарана, решение при интеграции (8).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4696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Использование ИИ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8DE"/>
                      </a:solidFill>
                      <a:prstDash val="solid"/>
                    </a:lnL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10%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202124"/>
                          </a:solidFill>
                          <a:latin typeface="Arial"/>
                          <a:ea typeface="Arial"/>
                          <a:cs typeface="Arial"/>
                        </a:rPr>
                        <a:t>Пайплайн агентов, Context7, проверка людьми (9).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8DE"/>
                      </a:solidFill>
                      <a:prstDash val="solid"/>
                    </a:lnR>
                    <a:lnB w="9525">
                      <a:solidFill>
                        <a:srgbClr val="D4D8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Aimo   /   Карта защиты   /   13 из 13">
            <a:extLst xmlns:a="http://schemas.openxmlformats.org/drawingml/2006/main">
              <a:ext uri="{FF2B5EF4-FFF2-40B4-BE49-F238E27FC236}">
                <a16:creationId xmlns:a16="http://schemas.microsoft.com/office/drawing/2014/main" id="{14B1A43F-95A0-4E74-8907-3B8C6DC7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912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Aimo   /   Карта защиты   /   13 из 13</a:t>
            </a:r>
          </a:p>
        </p:txBody>
      </p:sp>
    </p:spTree>
    <p:extLst>
      <p:ext uri="{BB962C8B-B14F-4D97-AF65-F5344CB8AC3E}">
        <p14:creationId xmlns:p14="http://schemas.microsoft.com/office/powerpoint/2010/main" val="18925117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2026-10-25T14:33:13.7460000Z</dcterms:created>
  <dcterms:modified xsi:type="dcterms:W3CDTF">2026-10-25T14:33:13.7460000Z</dcterms:modified>
</coreProperties>
</file>